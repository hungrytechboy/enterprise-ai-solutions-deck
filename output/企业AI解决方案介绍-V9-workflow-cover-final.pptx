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fc3ca50062142a6" /><Relationship Type="http://schemas.openxmlformats.org/officeDocument/2006/relationships/extended-properties" Target="/docProps/app.xml" Id="R20a4416a9a804e00" /><Relationship Type="http://schemas.openxmlformats.org/officeDocument/2006/relationships/officeDocument" Target="/ppt/presentation.xml" Id="R6001b9d4640041d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78355ba3a944608"/>
  </p:sldMasterIdLst>
  <p:notesMasterIdLst>
    <p:notesMasterId xmlns:r="http://schemas.openxmlformats.org/officeDocument/2006/relationships" r:id="Rb045ee914c144be4"/>
  </p:notesMasterIdLst>
  <p:sldIdLst>
    <p:sldId xmlns:r="http://schemas.openxmlformats.org/officeDocument/2006/relationships" id="256" r:id="R653c6c3417a348c7"/>
    <p:sldId xmlns:r="http://schemas.openxmlformats.org/officeDocument/2006/relationships" id="257" r:id="Rc00eff2f80ff480a"/>
    <p:sldId xmlns:r="http://schemas.openxmlformats.org/officeDocument/2006/relationships" id="258" r:id="R405a46f5434a4b15"/>
    <p:sldId xmlns:r="http://schemas.openxmlformats.org/officeDocument/2006/relationships" id="259" r:id="R1f659779a08243d6"/>
    <p:sldId xmlns:r="http://schemas.openxmlformats.org/officeDocument/2006/relationships" id="260" r:id="R556a373fbf9b403e"/>
    <p:sldId xmlns:r="http://schemas.openxmlformats.org/officeDocument/2006/relationships" id="261" r:id="R287b8ea306b34578"/>
    <p:sldId xmlns:r="http://schemas.openxmlformats.org/officeDocument/2006/relationships" id="262" r:id="R404a52ec1ba94d7e"/>
    <p:sldId xmlns:r="http://schemas.openxmlformats.org/officeDocument/2006/relationships" id="263" r:id="R2eed9be7ef2a4c7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55aa90c58e44912" /><Relationship Type="http://schemas.openxmlformats.org/officeDocument/2006/relationships/slideMaster" Target="/ppt/slideMasters/slideMaster1.xml" Id="R878355ba3a944608" /><Relationship Type="http://schemas.openxmlformats.org/officeDocument/2006/relationships/notesMaster" Target="/ppt/notesMasters/notesMaster1.xml" Id="Rb045ee914c144be4" /><Relationship Type="http://schemas.openxmlformats.org/officeDocument/2006/relationships/presProps" Target="/ppt/presProps.xml" Id="R0e9ff69b009743d5" /><Relationship Type="http://schemas.openxmlformats.org/officeDocument/2006/relationships/tableStyles" Target="/ppt/tableStyles.xml" Id="Ra8481d6305ca4563" /><Relationship Type="http://schemas.openxmlformats.org/officeDocument/2006/relationships/slide" Target="/ppt/slides/slide1.xml" Id="R653c6c3417a348c7" /><Relationship Type="http://schemas.openxmlformats.org/officeDocument/2006/relationships/slide" Target="/ppt/slides/slide2.xml" Id="Rc00eff2f80ff480a" /><Relationship Type="http://schemas.openxmlformats.org/officeDocument/2006/relationships/slide" Target="/ppt/slides/slide3.xml" Id="R405a46f5434a4b15" /><Relationship Type="http://schemas.openxmlformats.org/officeDocument/2006/relationships/slide" Target="/ppt/slides/slide4.xml" Id="R1f659779a08243d6" /><Relationship Type="http://schemas.openxmlformats.org/officeDocument/2006/relationships/slide" Target="/ppt/slides/slide5.xml" Id="R556a373fbf9b403e" /><Relationship Type="http://schemas.openxmlformats.org/officeDocument/2006/relationships/slide" Target="/ppt/slides/slide6.xml" Id="R287b8ea306b34578" /><Relationship Type="http://schemas.openxmlformats.org/officeDocument/2006/relationships/slide" Target="/ppt/slides/slide7.xml" Id="R404a52ec1ba94d7e" /><Relationship Type="http://schemas.openxmlformats.org/officeDocument/2006/relationships/slide" Target="/ppt/slides/slide8.xml" Id="R2eed9be7ef2a4c7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94cbd1b09414dd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ae44d2681fc4d6b" /><Relationship Type="http://schemas.openxmlformats.org/officeDocument/2006/relationships/notesMaster" Target="/ppt/notesMasters/notesMaster1.xml" Id="Rc2662bb79f254b7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c683a311ca2448b" /><Relationship Type="http://schemas.openxmlformats.org/officeDocument/2006/relationships/notesMaster" Target="/ppt/notesMasters/notesMaster1.xml" Id="Ra6dedf6bb8b74df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0d00912c7ba442d" /><Relationship Type="http://schemas.openxmlformats.org/officeDocument/2006/relationships/notesMaster" Target="/ppt/notesMasters/notesMaster1.xml" Id="R559e2c1863f64c1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2dbf60ccf534ad5" /><Relationship Type="http://schemas.openxmlformats.org/officeDocument/2006/relationships/notesMaster" Target="/ppt/notesMasters/notesMaster1.xml" Id="R0bb19fb9e68b459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705d2cba8314e84" /><Relationship Type="http://schemas.openxmlformats.org/officeDocument/2006/relationships/notesMaster" Target="/ppt/notesMasters/notesMaster1.xml" Id="Rd759c1f3c40c4c4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a49738cdc8a4b5f" /><Relationship Type="http://schemas.openxmlformats.org/officeDocument/2006/relationships/notesMaster" Target="/ppt/notesMasters/notesMaster1.xml" Id="R5b2f9e95c3a6494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6aa65fd507a489e" /><Relationship Type="http://schemas.openxmlformats.org/officeDocument/2006/relationships/notesMaster" Target="/ppt/notesMasters/notesMaster1.xml" Id="R334c08b9843c442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acd8f247df3456c" /><Relationship Type="http://schemas.openxmlformats.org/officeDocument/2006/relationships/notesMaster" Target="/ppt/notesMasters/notesMaster1.xml" Id="Re6d85402abcb481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67960b4b05455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870e2d3c9af4cb2" /><Relationship Type="http://schemas.openxmlformats.org/officeDocument/2006/relationships/slideLayout" Target="/ppt/slideLayouts/slideLayout1.xml" Id="R4886b2768ef34d8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886b2768ef34d8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c2ad422b294193" /><Relationship Type="http://schemas.openxmlformats.org/officeDocument/2006/relationships/image" Target="/ppt/media/image.png" Id="R3607c56b68c54b13" /><Relationship Type="http://schemas.openxmlformats.org/officeDocument/2006/relationships/notesSlide" Target="/ppt/notesSlides/notesSlide1.xml" Id="Rddc5bee6a0dc44f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981b11fa01407f" /><Relationship Type="http://schemas.openxmlformats.org/officeDocument/2006/relationships/notesSlide" Target="/ppt/notesSlides/notesSlide2.xml" Id="Rf972830622464b7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67ea12773e4ccd" /><Relationship Type="http://schemas.openxmlformats.org/officeDocument/2006/relationships/notesSlide" Target="/ppt/notesSlides/notesSlide3.xml" Id="R1595777c13ab429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f44588d77e477a" /><Relationship Type="http://schemas.openxmlformats.org/officeDocument/2006/relationships/image" Target="/ppt/media/image2.png" Id="Raf13a28859954b64" /><Relationship Type="http://schemas.openxmlformats.org/officeDocument/2006/relationships/image" Target="/ppt/media/image3.png" Id="Rc4942b00cbb34146" /><Relationship Type="http://schemas.openxmlformats.org/officeDocument/2006/relationships/image" Target="/ppt/media/image4.png" Id="Reeb503663b924629" /><Relationship Type="http://schemas.openxmlformats.org/officeDocument/2006/relationships/notesSlide" Target="/ppt/notesSlides/notesSlide4.xml" Id="R93165c78d556411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f8363be87a4b5d" /><Relationship Type="http://schemas.openxmlformats.org/officeDocument/2006/relationships/image" Target="/ppt/media/image5.png" Id="Rb2ecdd1218be4065" /><Relationship Type="http://schemas.openxmlformats.org/officeDocument/2006/relationships/image" Target="/ppt/media/image6.png" Id="Rfd6815418ecc4b99" /><Relationship Type="http://schemas.openxmlformats.org/officeDocument/2006/relationships/notesSlide" Target="/ppt/notesSlides/notesSlide5.xml" Id="R3c849c44980347d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fd241d3d0a4dc4" /><Relationship Type="http://schemas.openxmlformats.org/officeDocument/2006/relationships/notesSlide" Target="/ppt/notesSlides/notesSlide6.xml" Id="R203d4d764a524d4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cd91db78384c28" /><Relationship Type="http://schemas.openxmlformats.org/officeDocument/2006/relationships/notesSlide" Target="/ppt/notesSlides/notesSlide7.xml" Id="R61b595e6325346f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4026729f0245b5" /><Relationship Type="http://schemas.openxmlformats.org/officeDocument/2006/relationships/notesSlide" Target="/ppt/notesSlides/notesSlide8.xml" Id="R1e14dd1605be4a3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EF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C73365-A3EC-4980-B8F9-AE316E4BA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378A05-5F66-4F96-ABC5-C7C17E038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62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公司介绍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31BBA1-EB4A-4ACC-B7AB-32D679DD4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04825"/>
            <a:ext cx="2438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788" b="1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88" b="1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COMPANY PROFILE ·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AD327E-4479-48AA-989A-FD8B62C28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90575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深圳峦识科技有限公司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E0D624-3489-4C12-BC13-D9CD39BB9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57300"/>
            <a:ext cx="5334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AAD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7863FF-944E-411D-937D-C1C4022D1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81150"/>
            <a:ext cx="523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企业 AI 解决方案与落地服务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A6C266-C8CF-4436-8AF5-9ACFD1854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47900"/>
            <a:ext cx="523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975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975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让 AI 成为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792511-2CD7-42C5-9FA9-A4DF85903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57500"/>
            <a:ext cx="533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1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1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可持续的业务能力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6082B8-FFFD-4169-BE89-26AD97503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33825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88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88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从认知培训和场景共创，到应用落地与持续运营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6AD0AF-0944-4BF7-BAAF-A21772E1A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10125"/>
            <a:ext cx="5334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AAD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3C01AB-2835-4536-98E2-7F014BAE8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10150"/>
            <a:ext cx="116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认知共识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77AEA4-8180-45E2-BF87-D7016037E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010150"/>
            <a:ext cx="116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场景共创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2E2DBE-D7D5-4E66-8954-65579A837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010150"/>
            <a:ext cx="116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应用落地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51F72A-672B-4F66-9184-83992DC5B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5010150"/>
            <a:ext cx="116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持续运营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10327F-93CB-48D2-90B9-0A89D5418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0077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88" b="1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88" b="1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ENTERPRISE AI SOLUTIONS &amp; DELIVERY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58BDB9-7765-4432-9705-332C47A22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6200775"/>
            <a:ext cx="102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788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88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01 / 08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07c56b68c54b13"/>
          <a:stretch xmlns:a="http://schemas.openxmlformats.org/drawingml/2006/main"/>
        </p:blipFill>
        <p:spPr>
          <a:xfrm xmlns:a="http://schemas.openxmlformats.org/drawingml/2006/main">
            <a:off x="6700953" y="495300"/>
            <a:ext cx="4695594" cy="58674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072207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EF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516B30-C5B5-41E7-AD2D-620E38183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429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0CD39B-9E5C-4AD9-91FC-08E0D059B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企业 AI 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2338D0-B443-4FCE-9B59-7A6B9BE02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85875"/>
            <a:ext cx="2571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675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675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四个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3675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675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真实难题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0B7ED1-44D8-4AC4-B91B-F27B5F2DB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90875"/>
            <a:ext cx="23431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350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真正的挑战集中在业务选择、落地执行和组织协同。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0AF65B-22C7-4286-9838-4119F4A8E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6400800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825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02 / 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1A3662-DD58-4AF1-9708-C54C5AFCD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09600"/>
            <a:ext cx="742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企业不缺 AI，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586232-37A1-48BE-BBDA-0C4D20D22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152525"/>
            <a:ext cx="752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0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缺的是把 AI 变成业务结果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A2C3C3-B654-48C3-8012-73F4BC221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1895475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从“能演示”走到“能运行、能复制、能持续产生价值”。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11584F-3F9B-42E5-9B49-74F256C18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686050"/>
            <a:ext cx="33147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AAD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622C04-5A47-40F9-9159-EA94E7C19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85750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31DCD2-7EB6-4CBB-B69C-E9C871B86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86702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场景难选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4D5D38-1859-4D46-8584-F3FD06D1C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238500"/>
            <a:ext cx="2457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想法很多，但不知道哪些问题真正值得投入。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5A8562-DBEE-430A-BB62-1B6695F23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686050"/>
            <a:ext cx="33147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AAD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827A86-707D-43ED-BD63-4780ED839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85750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9A16BD-331C-465D-8DF9-807A7E88B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6702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落地难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CC354A-8BDB-495C-960E-3878DB461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238500"/>
            <a:ext cx="2457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接入真实数据、系统与权限，打通业务流程并不容易。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5BB5D8-0E5D-4ABE-91C2-21076E48D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362450"/>
            <a:ext cx="33147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AAD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FCE946-1F58-46DE-9C0A-7B9E60AB7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53390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706CD3-15B7-4EBA-9DC0-229D588B8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54342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规模化难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0C42D4-79AF-4A0C-BD68-CD1C24CD3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914900"/>
            <a:ext cx="2457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一个 PoC 跑通，不代表能稳定上线和复制推广。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406ED7-DC43-4B07-A69D-31C846C9D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362450"/>
            <a:ext cx="33147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AAD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6356C4-2271-4630-AA46-97CFF541D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53390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2BDED7-51C4-432A-A4A4-335B10E00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4342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组织变革难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3D4717-5688-4AAF-AAE5-B2D13F56D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914900"/>
            <a:ext cx="2457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上线之后，岗位流程与管理机制若不同步，价值难持续。</a:t>
            </a:r>
          </a:p>
        </p:txBody>
      </p:sp>
    </p:spTree>
    <p:extLst>
      <p:ext uri="{BB962C8B-B14F-4D97-AF65-F5344CB8AC3E}">
        <p14:creationId xmlns:p14="http://schemas.microsoft.com/office/powerpoint/2010/main" val="176337285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EF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E5FB4E1-5FC0-4114-BD52-91C4A99EE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1950"/>
            <a:ext cx="109347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AA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15FEB0-D3A4-413A-8F07-A5315782B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387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我们怎样开始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A7BB44-87F0-4C2D-98E2-2B479BB7F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6677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1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企业 AI 服务与落地路径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8F6107-E7F2-408C-B8FA-07F58E039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4008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7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03 / 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9F9ECF-C9DA-4ACF-B4AC-A0F72686C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4780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两种进入方式，汇入同一套从共识到运营的交付链路。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F97779-CC5B-4AF9-8DCD-A43B052D9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43100"/>
            <a:ext cx="4953000" cy="1162050"/>
          </a:xfrm>
          <a:prstGeom xmlns:a="http://schemas.openxmlformats.org/drawingml/2006/main" prst="roundRect">
            <a:avLst>
              <a:gd name="adj" fmla="val 11475"/>
            </a:avLst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B78EDF-18E7-4DCB-AB4D-3058CA8F9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336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入口一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E9A66B-4E23-4467-BC7E-ECA6B899B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193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AI 认知培训与场景工作坊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08EDD6-0D23-4BCF-B8BA-0F7EBA216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00350"/>
            <a:ext cx="426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适合尚未形成 AI 共识、不确定从哪里开始的企业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6738EA-C126-4CBC-9C80-9D77B63AF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1943100"/>
            <a:ext cx="5715000" cy="1162050"/>
          </a:xfrm>
          <a:prstGeom xmlns:a="http://schemas.openxmlformats.org/drawingml/2006/main" prst="roundRect">
            <a:avLst>
              <a:gd name="adj" fmla="val 114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BAAD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C0D88C-8603-49C0-9C6B-09628A795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336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入口二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3FAD9E-3360-4BB7-8664-2DE4DB1C6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193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明确业务问题直接启动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D456FB-110F-4DD1-9D84-67187DC27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0035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适合已经有明确需求、希望快速验证和落地的企业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14EB9D-B4C7-4CCD-9FA0-F85A35265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38600"/>
            <a:ext cx="9734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AAD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46D421-7762-4706-AE16-8D01DC5D6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8481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C5AA23-F40F-45B6-991F-FA3DEA0CC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9052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2836C5-3D92-4F50-A212-57B81DC81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410075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认知与诊断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6E3353-947B-477F-BC5A-783837207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772025"/>
            <a:ext cx="1390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163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63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AI共识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163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63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机会方向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826180-2C33-4067-A659-9E7694689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8481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CF1FC9-00CB-4DFB-BDD0-9B1C7F940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9052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39B915-A4A0-4BD9-9FE0-E638AC6C5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410075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场景共创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1235B9-C6D5-4E1B-A5E9-3F20ECA95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772025"/>
            <a:ext cx="1390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163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63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场景清单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163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63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方案蓝图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31EA5C-73BF-418B-9993-98D47B5AE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38481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77A888-5B86-4CD9-8280-36B17664A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39052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8494B1-3C50-484A-9979-1B775AFAD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410075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原型验证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3CCEFC4-6CAD-453E-8F8E-94E4986C9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772025"/>
            <a:ext cx="1390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163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63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可演示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163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63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可验证原型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FD42A94-C736-4026-8434-C8E263A9C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546762-8D59-479A-B087-59336526F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9052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04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3FC95AC-8FF0-4D22-928C-00C54B81E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410075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生产交付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8D95147-E9AE-45FA-B84B-9441172D1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772025"/>
            <a:ext cx="1390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163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63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系统集成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163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63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正式上线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B028C67-869F-48CD-8311-D6B542474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38481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E0F8E80-E665-44D2-B9EF-51468B7A3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39052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05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0EE89B0-8B04-4A83-87B9-BEE7D84AB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410075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运营优化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C72B904-3E74-4D21-8103-E40A04636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772025"/>
            <a:ext cx="1390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163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63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效果评测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163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63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持续迭代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23C95FC-3B6E-42F4-95D4-3EAD91305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19750"/>
            <a:ext cx="109347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9DED1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51566A0-F512-454B-9E9D-FF2F275B0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81675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 i="0">
                <a:solidFill>
                  <a:srgbClr val="873B2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873B28"/>
                </a:solidFill>
                <a:latin typeface="Hiragino Sans GB"/>
                <a:ea typeface="Hiragino Sans GB"/>
                <a:cs typeface="Hiragino Sans GB"/>
              </a:rPr>
              <a:t>上线导入、使用辅导、效果评测与版本优化贯穿交付全程</a:t>
            </a:r>
          </a:p>
        </p:txBody>
      </p:sp>
    </p:spTree>
    <p:extLst>
      <p:ext uri="{BB962C8B-B14F-4D97-AF65-F5344CB8AC3E}">
        <p14:creationId xmlns:p14="http://schemas.microsoft.com/office/powerpoint/2010/main" val="31328490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EF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8F920C4-993D-45B4-A839-21B5C8B74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1950"/>
            <a:ext cx="109347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AA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BA9563-36E0-4B03-8698-21DF9078B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387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案例一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7C7572-E6DD-4F7C-8246-98301FE56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66775"/>
            <a:ext cx="685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1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TikTok 商业化 Agent 平台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C5935A-FA3A-4D27-A19B-2E3FDDF90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4008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7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04 / 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DC4690-3568-49BC-A93A-1A46A33BA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81125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支撑商业化 Agent 快速搭建、稳定上线与持续运营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FB75AF-6B90-490E-AEF4-45A5FC804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431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业务挑战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20194A-8E46-460E-9F51-4CE75DCDD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24100"/>
            <a:ext cx="438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704C04-2ECE-4DD1-9F86-837771F0E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24100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Agent 重复建设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1E2863-46B7-4D14-842F-9178C63CC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0985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各团队独立开发，Prompt、模型与工具难以复用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A4A80A-A1EA-443F-AFA1-EE878450F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00400"/>
            <a:ext cx="438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F52234-55FB-4C5F-9172-307CD8B78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00400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版本发布难以管理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5212B2-6107-45EF-BBBD-20F3143B7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8615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配置频繁变化，测试与发布长期依赖工程协作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20A461-CDFF-42CB-A6D2-D5817A419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76700"/>
            <a:ext cx="438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28AE1A-5F7D-4D95-8748-6410A6E19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76700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应用质量缺少标准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42DC5A-BC6B-43E8-839E-7BC8CFCD6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6245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各个 Agent 各自测试，版本升级后难以对比效果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4C5F85-D138-49B1-A232-96933B060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809750"/>
            <a:ext cx="4762500" cy="3219450"/>
          </a:xfrm>
          <a:prstGeom xmlns:a="http://schemas.openxmlformats.org/drawingml/2006/main" prst="roundRect">
            <a:avLst>
              <a:gd name="adj" fmla="val 41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BAAD"/>
            </a:solidFill>
          </a:ln>
        </p:spPr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13a28859954b64"/>
          <a:srcRect xmlns:a="http://schemas.openxmlformats.org/drawingml/2006/main" l="16094" t="0" r="1609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0" y="1962150"/>
            <a:ext cx="4457700" cy="2914650"/>
          </a:xfrm>
          <a:prstGeom xmlns:a="http://schemas.openxmlformats.org/drawingml/2006/main" prst="roundRect">
            <a:avLst>
              <a:gd name="adj" fmla="val 2941"/>
            </a:avLst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FAFC7E-D999-48AF-B96C-685113287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181350"/>
            <a:ext cx="857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3CF687-E4D9-4334-93CC-681422022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809750"/>
            <a:ext cx="18478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BAAD"/>
            </a:solidFill>
          </a:ln>
        </p:spPr>
      </p:sp>
      <p:pic>
        <p:nvPicPr>
          <p:cNvPr id="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942b00cbb34146"/>
          <a:srcRect xmlns:a="http://schemas.openxmlformats.org/drawingml/2006/main" l="0" t="6853" r="0" b="68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810750" y="1905000"/>
            <a:ext cx="1657350" cy="1143000"/>
          </a:xfrm>
          <a:prstGeom xmlns:a="http://schemas.openxmlformats.org/drawingml/2006/main" prst="roundRect">
            <a:avLst>
              <a:gd name="adj" fmla="val 5833"/>
            </a:avLst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A6523A-24EA-4E2A-AA37-EE77279E2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095625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38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38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版本管理与发布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E5F31D-521C-444B-8875-FD554AA67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505200"/>
            <a:ext cx="18478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BAAD"/>
            </a:solidFill>
          </a:ln>
        </p:spPr>
      </p:sp>
      <p:pic>
        <p:nvPicPr>
          <p:cNvPr id="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b503663b924629"/>
          <a:srcRect xmlns:a="http://schemas.openxmlformats.org/drawingml/2006/main" l="0" t="28933" r="0" b="289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810750" y="3600450"/>
            <a:ext cx="1657350" cy="1143000"/>
          </a:xfrm>
          <a:prstGeom xmlns:a="http://schemas.openxmlformats.org/drawingml/2006/main" prst="roundRect">
            <a:avLst>
              <a:gd name="adj" fmla="val 5833"/>
            </a:avLst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93A912-6A06-4152-A315-6835C9469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791075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38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38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效果评测与优化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7752B46-ED54-4DBF-B6F0-D72A7501F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05425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F22E54-7D0B-437F-A8BE-CCB1D5DE6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19725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9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12+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04289F0-85EB-4040-A968-8B5CFB2E0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0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商业化 Agent 上线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2518E6-05EE-4D22-BEF5-691ECAD82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817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完成搭建、测试并投入真实业务使用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04B7CA7-85DD-4880-B1D7-22A992257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305425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40B21B3-ECA6-422E-AC03-5D1B23606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419725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9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65%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B93EC2E-AAA9-4B7B-8778-4E99FA3D6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905500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Agent 搭建周期缩短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85E031E-B999-4F08-83F9-88DC50B50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61817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平均搭建周期由约 4 周缩短至 10 天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29A61F7-8838-44D4-B0A8-67769DC6E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305425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B8846EE-FADB-4461-9772-686A3F216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419725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9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75%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A51355A-5685-47ED-A05A-A588E8C55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905500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版本迭代时间减少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80DAEA6-89E1-4E50-9EB0-204CA35F4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1817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常规配置调整与发布由 2 天缩短至半天</a:t>
            </a:r>
          </a:p>
        </p:txBody>
      </p:sp>
    </p:spTree>
    <p:extLst>
      <p:ext uri="{BB962C8B-B14F-4D97-AF65-F5344CB8AC3E}">
        <p14:creationId xmlns:p14="http://schemas.microsoft.com/office/powerpoint/2010/main" val="68766992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EF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B40C0BD-64B7-4AF5-BF1A-762ABCD44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1950"/>
            <a:ext cx="109347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AA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943FFD-E385-418D-802A-E33A1C081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387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案例二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23D696-3724-4C9D-A1ED-4B4F1F7AD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66775"/>
            <a:ext cx="781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1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TikTok Shop 广告诊断 Agent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CFD014-B603-488D-97CA-76CC1E244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4008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7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05 / 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969F09-363E-42A3-A073-9DD50FB6F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81125"/>
            <a:ext cx="752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汇总大量投放诊断数据，帮助广告主快速定位问题并完成优化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720BE0-C249-4250-B7D4-BC0D9EC43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431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业务挑战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301AA9-F746-4B30-8727-8A06B26EF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24100"/>
            <a:ext cx="438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BD3732-6E8B-4BD4-A635-58541F937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24100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诊断链路复杂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D63379-27E8-4CEE-82DD-315612D02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09850"/>
            <a:ext cx="3105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需要跨店铺、商品、Campaign和数据报表反复排查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09AB38-F967-4D44-98D9-9319C836A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00400"/>
            <a:ext cx="438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E82393-401F-466A-A403-358CB277E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00400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投放问题难以归因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76A257-DB56-4AF5-8009-68BD83F60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86150"/>
            <a:ext cx="3105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预算、商品、库存、转化率和广告设置相互影响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FE1B84-3FB2-4CDE-AE10-E525F764F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76700"/>
            <a:ext cx="438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B363F8-F6C6-49BA-B70C-4DECE21F2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76700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专家服务难以规模化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B8571D-F0B9-400E-B0F1-9BEAD296F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62450"/>
            <a:ext cx="3105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复杂问题依赖平台运营和广告专家人工分析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E1AC8A-FC9B-45BE-B5D6-349A067EC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809750"/>
            <a:ext cx="7143750" cy="2952750"/>
          </a:xfrm>
          <a:prstGeom xmlns:a="http://schemas.openxmlformats.org/drawingml/2006/main" prst="roundRect">
            <a:avLst>
              <a:gd name="adj" fmla="val 45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BAAD"/>
            </a:solidFill>
          </a:ln>
        </p:spPr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ecdd1218be4065"/>
          <a:stretch xmlns:a="http://schemas.openxmlformats.org/drawingml/2006/main"/>
        </p:blipFill>
        <p:spPr>
          <a:xfrm xmlns:a="http://schemas.openxmlformats.org/drawingml/2006/main">
            <a:off x="4618844" y="1962150"/>
            <a:ext cx="2306613" cy="2647950"/>
          </a:xfrm>
          <a:prstGeom xmlns:a="http://schemas.openxmlformats.org/drawingml/2006/main" prst="roundRect">
            <a:avLst>
              <a:gd name="adj" fmla="val 3571"/>
            </a:avLst>
          </a:prstGeom>
        </p:spPr>
      </p:pic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6815418ecc4b99"/>
          <a:srcRect xmlns:a="http://schemas.openxmlformats.org/drawingml/2006/main" l="0" t="23093" r="0" b="230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24700" y="1962150"/>
            <a:ext cx="4286250" cy="2647950"/>
          </a:xfrm>
          <a:prstGeom xmlns:a="http://schemas.openxmlformats.org/drawingml/2006/main" prst="roundRect">
            <a:avLst>
              <a:gd name="adj" fmla="val 3237"/>
            </a:avLst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E1ADB4-A8C0-4D4A-92D4-027090665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14900"/>
            <a:ext cx="109347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9DED1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B78ABE-E359-487C-A819-B5FA5F0A5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10629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1" i="0">
                <a:solidFill>
                  <a:srgbClr val="873B2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 i="0">
                <a:solidFill>
                  <a:srgbClr val="873B28"/>
                </a:solidFill>
                <a:latin typeface="Hiragino Sans GB"/>
                <a:ea typeface="Hiragino Sans GB"/>
                <a:cs typeface="Hiragino Sans GB"/>
              </a:rPr>
              <a:t>账户数据    广告计划    预算    商品    库存    流量    订单    转化率    ROI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02AEE0-B902-4417-8F0C-F761284BC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10200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B4DCF5-8FB0-4D67-9921-D8E840E8D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2450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9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30+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7C5752-97F4-4F11-B3CF-39E9D28E1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10275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投放诊断指标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447B03-0C04-45A7-9B19-79C96FE26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865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综合分析账户、广告、商品与转化数据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1901C62-3594-4E10-8725-43C4F64B6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410200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38CE3F-B5F7-4CC3-B17D-B23854B38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52450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9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&lt;3 分钟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800BFEB-A67E-43B8-A0E6-4A0959F24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6010275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完成初步问题诊断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FBC7A9C-5ADB-4A4C-A223-E952B1258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62865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从跨页面排查收敛为一次对话式诊断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E0F9E72-8459-4B6A-BFB7-F48224152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410200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710BBF-DC62-462A-8F43-BED5BC589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52450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9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60%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7233138-F63E-4025-8678-8A697EBF1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010275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高频问题自助解决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E38F838-81DF-4ACD-8DD2-8986C12B1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2865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减少对平台运营和广告专家的重复咨询</a:t>
            </a:r>
          </a:p>
        </p:txBody>
      </p:sp>
    </p:spTree>
    <p:extLst>
      <p:ext uri="{BB962C8B-B14F-4D97-AF65-F5344CB8AC3E}">
        <p14:creationId xmlns:p14="http://schemas.microsoft.com/office/powerpoint/2010/main" val="139670472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EF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D56C1B9-D805-467D-91C1-DEA4A865F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1950"/>
            <a:ext cx="109347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AA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FF671A-4E4C-4EFD-89B1-D6AD9B75F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387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案例三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05234C-8A96-4F90-BD14-C576D27C2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66775"/>
            <a:ext cx="8001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1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保诚保险团队智能工作台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2111BF-AF02-49ED-A370-3C281AFEC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4008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7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06 / 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0B6690-FE20-4ACF-B689-60F1F978C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81125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将团队社区、保险知识问答与客户计划书统一到一个小程序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E3C643-41D3-4EE0-8A34-ECF1C7AB6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47850"/>
            <a:ext cx="333375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BAAD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C9AB88-D5E4-4961-A0B5-D7C5CD8DB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81200"/>
            <a:ext cx="2990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38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38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团队经验难沉淀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455ACF-3366-42E1-8AAE-AA084BA0B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66950"/>
            <a:ext cx="2990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38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38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市场信息与销售资料散落在微信群和个人设备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F94D6C-4163-4B84-8F2A-1277341DB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847850"/>
            <a:ext cx="333375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AF5033"/>
          </a:solidFill>
          <a:ln xmlns:a="http://schemas.openxmlformats.org/drawingml/2006/main" w="9525">
            <a:solidFill>
              <a:srgbClr val="AF503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4D2316-14AB-44F5-83FB-800C7574A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981200"/>
            <a:ext cx="2990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38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38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保险知识查询效率低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9B56C8-FF1B-492C-BAC9-2208F1EE3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266950"/>
            <a:ext cx="2990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38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38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条款、核保规则与销售资料分散，复杂问题依赖资深顾问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342DD5-AE52-4B44-9735-0991A15BA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47850"/>
            <a:ext cx="333375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BAAD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FFEF92-5EE7-4F52-B17E-C61252111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981200"/>
            <a:ext cx="2990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38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38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计划书复杂，反馈不可见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BB5D10-E46A-4280-AA70-75DE1EF0A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66950"/>
            <a:ext cx="2990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38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38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传统制作流程耗时，发送后无法掌握客户查看情况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70833F-BDEB-479E-BC35-54BDA10B6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38450"/>
            <a:ext cx="3333750" cy="2000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BAAD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D73235-017B-4289-A698-0440F07E2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14675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团队社区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5D56CC-3C91-4ED4-ADCA-A1275816C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3571875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8BFC54-1DE5-4771-967A-0856ECE89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762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动态、资料与业务经验集中沉淀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成员审批、团队切换与共同管理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62C66A-0B36-4DC7-8205-AFA30E3AE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838450"/>
            <a:ext cx="3333750" cy="2000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AF5033"/>
          </a:solidFill>
          <a:ln xmlns:a="http://schemas.openxmlformats.org/drawingml/2006/main" w="9525">
            <a:solidFill>
              <a:srgbClr val="AF503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5A3DB7-8CC8-43DB-9318-58BEE0C3C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114675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725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保险知识助手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A32926-18E7-4B32-A3FD-CB87D564F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3571875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789264-0D9E-429F-981B-D648AE6C0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848100"/>
            <a:ext cx="2762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125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基于团队知识库回答产品与核保问题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125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支持 @文件 和引用溯源，可返回原文核对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FEA288-9B8C-47D3-A0E9-2783E517F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38450"/>
            <a:ext cx="3333750" cy="2000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BAAD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E3D51C-D189-4EBF-82FE-80A914C9A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114675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智能计划书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2303C5-57F2-4E4F-9D5C-504212AE9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571875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CB7E8B-A4D7-4CCA-969E-D4655F3C3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848100"/>
            <a:ext cx="2762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基于客户参数自动生成标准计划书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微信分享并记录查看时间与查看时长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6066BF-5975-42AE-ACE1-639091DB9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62550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366F187-C622-4DE2-A92C-5F26356F9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7685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9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3 大模块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001E091-48D2-4D63-A813-026C61078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62625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覆盖顾问核心工作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DEA323F-FB7C-478E-A984-8648F7ED3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388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团队协作、知识服务与客户计划书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15915F4-34C3-4774-BEBB-300C07BF2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162550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FB833CE-CDE0-42D8-B3C5-8F2483DE7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27685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9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4 类文件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DA16FD5-C646-4D6B-9BD0-AD868E07C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762625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企业知识统一沉淀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32D5DE2-685F-4206-A784-53C8F2BD9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60388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支持 PDF、Word、Excel 与 PPT 资料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ED55104-3C0B-411B-B1BB-B1ABBBA22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162550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670FC61-2BBC-48D9-A57F-807BF60CF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27685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9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2 项反馈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3E32DB4-1779-4F99-9917-E485D24D9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62625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客户浏览进度可追踪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DB15303-3E08-42FF-BFA3-427DC509E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0388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记录查看时间与查看时长</a:t>
            </a:r>
          </a:p>
        </p:txBody>
      </p:sp>
    </p:spTree>
    <p:extLst>
      <p:ext uri="{BB962C8B-B14F-4D97-AF65-F5344CB8AC3E}">
        <p14:creationId xmlns:p14="http://schemas.microsoft.com/office/powerpoint/2010/main" val="76939255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EF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4EC9E08-6496-4D19-9FE8-D5848350E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1950"/>
            <a:ext cx="109347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AA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01C8DA-9618-46BF-B4D0-E9CBF5518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387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为什么选择我们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1272B3-2274-4194-8BB4-B7E8777D5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66775"/>
            <a:ext cx="952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1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能够把 AI 项目真正交付到业务中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221556-7A95-4640-BC4D-9B43C216A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4008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7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07 / 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50C241-C564-4160-AA63-961EDC428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247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8F7C19-8AF1-4C2B-81C0-8F65A95A7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716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业务理解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8CDA81-AFA8-4188-A213-923D132F5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52675"/>
            <a:ext cx="2343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从企业经营目标和岗位流程出发识别真实问题。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824612-2E5D-4946-BB2E-12EED3297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809750"/>
            <a:ext cx="247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D82246-1463-441D-9780-0F8AF9034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716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端到端交付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4F68FB-18EF-4C27-8B9D-5F1FA270C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52675"/>
            <a:ext cx="2343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覆盖培训、方案、原型、开发、系统集成和上线。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748552-AA98-4A69-A434-FF5E01CD7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809750"/>
            <a:ext cx="247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1D3B99-DB7D-4F7E-A11C-C09CABDEC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9716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平台化建设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E11820-F219-4921-B7A3-BB7B8A784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52675"/>
            <a:ext cx="2343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既能交付单个应用，也能统一管理多个 Agent。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FB1B21-BE31-45C5-A193-29BBAF642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809750"/>
            <a:ext cx="247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A399B7-3C4D-4968-9C10-5B3E21E24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9716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持续运营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55C9BC-6EB4-47CE-98E8-3ACED4662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352675"/>
            <a:ext cx="2343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用户导入、效果评测、问题复盘和版本优化持续进行。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E6FAF8-B926-4479-BE69-FA9C3251D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81375"/>
            <a:ext cx="109347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AAD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763E61-44EE-4370-B3A3-FFD5AE6B4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385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核心团队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DF3563-D80E-4ACA-A559-3733E9B98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95750"/>
            <a:ext cx="3333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BAAD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8027F1-E917-4DBD-9258-D170B7DEF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95750"/>
            <a:ext cx="333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90DFE2-9B01-42A0-99CD-C48ED7482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05300"/>
            <a:ext cx="5334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DF4A88-7512-46C7-80F9-0507B6025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005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25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陈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0C9334-C41D-4123-8DA6-030E89158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2672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陈启明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E46AFF-7F05-42E8-A8DB-8CCB222A4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581525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创始人 / 首席 AI 解决方案专家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8046FE-1B70-44C5-83A7-3E7485106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24450"/>
            <a:ext cx="2876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负责企业 AI 战略咨询、场景设计与项目总体方案。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55B4F6-DB36-4F78-954C-AF2973FAC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095750"/>
            <a:ext cx="3333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BAAD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FA367D4-22F6-4709-A457-22429B4C8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095750"/>
            <a:ext cx="333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73D881B-978C-41FA-A2F5-5D41A879F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305300"/>
            <a:ext cx="5334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DF38921-6C3A-4EF2-9764-AFBF972FE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4005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25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林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2ED3E89-645F-4E33-96C6-2DED37C94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2672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林若川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2737DA8-0910-4E10-A888-CA2F12B95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581525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联合创始人 / AI 平台与工程负责人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82473E2-EF36-411D-A721-F37E8EC1D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124450"/>
            <a:ext cx="2876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负责 Agent 平台、知识系统、数据连接和生产交付。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519571C-E6C6-4594-A4B6-DACEE02B7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95750"/>
            <a:ext cx="3333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BAAD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BE98333-1B38-4B1C-829C-A434D9FAE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95750"/>
            <a:ext cx="333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B9C50FD-8484-4031-BA33-18048BC52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305300"/>
            <a:ext cx="5334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1A2AAB6-07EE-460E-9145-2F66D5FED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4005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25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周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A6F9B43-E3CC-4518-806D-2EC716C44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2672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周婧妍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2F1F580-AD96-43FE-B284-1D8F1E521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581525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客户成功与 AI 赋能负责人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E1AE326-B0D6-490D-9026-C350CAC56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124450"/>
            <a:ext cx="2876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负责管理层培训、场景工作坊、上线导入和持续运营。</a:t>
            </a:r>
          </a:p>
        </p:txBody>
      </p:sp>
    </p:spTree>
    <p:extLst>
      <p:ext uri="{BB962C8B-B14F-4D97-AF65-F5344CB8AC3E}">
        <p14:creationId xmlns:p14="http://schemas.microsoft.com/office/powerpoint/2010/main" val="55780627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EF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2E157E-9A7D-42B6-A802-6FEBD7B5E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1950"/>
            <a:ext cx="109347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AA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0CB541-F643-43D1-BAED-CB4BD1582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387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合作方式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96E1EE-C129-403D-B8C8-3167F69FB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66775"/>
            <a:ext cx="8953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1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两种方式启动企业 AI 项目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A3CFB0-F2C1-403E-BC22-7A10EFAC5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4008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7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08 / 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4EF31E-B8CA-41DF-A1AA-6C1D71DC6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81125"/>
            <a:ext cx="819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从认知开始，或者带着明确问题直接进入解决方案共创。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17DDFA-098C-461C-82B6-906CFAE46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24050"/>
            <a:ext cx="5143500" cy="331470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345DB5-D9C1-4909-BD85-1C39642AA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71700"/>
            <a:ext cx="76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85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85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975FC3-407A-46A6-9C4E-2DF7E2701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86050"/>
            <a:ext cx="428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025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AI 认知培训与场景工作坊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56BF76-E36C-448E-B107-2BBD215FE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67100"/>
            <a:ext cx="4248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200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适合尚未形成统一 AI 认知、不确定从哪里开始的企业。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DDE586-A6D0-4B79-8738-293361898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10025"/>
            <a:ext cx="24003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  <a:buNone/>
              <a:defRPr sz="1125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管理层培训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125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行业案例拆解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125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部门业务访谈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125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场景共创工作坊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A47ED6-3E80-415F-AF2B-C4BF7690C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276725"/>
            <a:ext cx="2047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交付：企业 AI 机会地图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1CBACF-BA83-4C1D-95E1-7D78289F5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924050"/>
            <a:ext cx="5524500" cy="331470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BAAD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996108-ABD9-4D1D-A2BF-AF51BFC84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71700"/>
            <a:ext cx="76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8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8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4FEA2A-7300-48F1-B8E3-77A0BF578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86050"/>
            <a:ext cx="4476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025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AI 解决方案设计与落地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A042A4-7F73-4617-B4D5-A29825793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67100"/>
            <a:ext cx="4343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20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适合已经存在明确业务问题、希望快速验证并正式上线的企业。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C7E309-2270-49EC-99C5-AC17DBEB7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10025"/>
            <a:ext cx="25527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  <a:buNone/>
              <a:def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业务诊断与方案设计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PoC 原型验证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系统开发与集成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上线运营与持续优化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94164F-3F17-49A8-84A5-0D27C5221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276725"/>
            <a:ext cx="2114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交付：可正式运行的 AI 应用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1C462A-0B44-4F65-B006-C1FE1EFE7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91150"/>
            <a:ext cx="1093470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E9DED1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F7F1E2-A189-4B87-8011-509DDF744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435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 i="0">
                <a:solidFill>
                  <a:srgbClr val="873B2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 i="0">
                <a:solidFill>
                  <a:srgbClr val="873B28"/>
                </a:solidFill>
                <a:latin typeface="Hiragino Sans GB"/>
                <a:ea typeface="Hiragino Sans GB"/>
                <a:cs typeface="Hiragino Sans GB"/>
              </a:rPr>
              <a:t>从一次业务场景访谈开始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318F86-40DA-4522-AEA9-2485396D1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57875"/>
            <a:ext cx="676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识别值得先做的场景，明确试点边界与价值目标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F83D1A-7381-4DF9-AFDE-5857ECF85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638800"/>
            <a:ext cx="272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3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预约业务场景访谈</a:t>
            </a:r>
          </a:p>
        </p:txBody>
      </p:sp>
    </p:spTree>
    <p:extLst>
      <p:ext uri="{BB962C8B-B14F-4D97-AF65-F5344CB8AC3E}">
        <p14:creationId xmlns:p14="http://schemas.microsoft.com/office/powerpoint/2010/main" val="17535666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2026-10-02T05:34:57.6000000Z</dcterms:created>
  <dcterms:modified xsi:type="dcterms:W3CDTF">2026-10-02T05:34:57.6000000Z</dcterms:modified>
</coreProperties>
</file>