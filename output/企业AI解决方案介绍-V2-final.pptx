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2f62ef0004a83" /><Relationship Type="http://schemas.openxmlformats.org/officeDocument/2006/relationships/extended-properties" Target="/docProps/app.xml" Id="R202aacc3bdce42f8" /><Relationship Type="http://schemas.openxmlformats.org/officeDocument/2006/relationships/officeDocument" Target="/ppt/presentation.xml" Id="R48612466db214a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8f4d1833a4356"/>
  </p:sldMasterIdLst>
  <p:notesMasterIdLst>
    <p:notesMasterId xmlns:r="http://schemas.openxmlformats.org/officeDocument/2006/relationships" r:id="R054c2a9f769046ce"/>
  </p:notesMasterIdLst>
  <p:sldIdLst>
    <p:sldId xmlns:r="http://schemas.openxmlformats.org/officeDocument/2006/relationships" id="256" r:id="R53fded61aae04818"/>
    <p:sldId xmlns:r="http://schemas.openxmlformats.org/officeDocument/2006/relationships" id="257" r:id="R05d74831ce8749af"/>
    <p:sldId xmlns:r="http://schemas.openxmlformats.org/officeDocument/2006/relationships" id="258" r:id="R2e456a6a2a5a499c"/>
    <p:sldId xmlns:r="http://schemas.openxmlformats.org/officeDocument/2006/relationships" id="259" r:id="R33c782e3a32e4011"/>
    <p:sldId xmlns:r="http://schemas.openxmlformats.org/officeDocument/2006/relationships" id="260" r:id="Re72d3514655843f0"/>
    <p:sldId xmlns:r="http://schemas.openxmlformats.org/officeDocument/2006/relationships" id="261" r:id="Rb67355be8486419b"/>
    <p:sldId xmlns:r="http://schemas.openxmlformats.org/officeDocument/2006/relationships" id="262" r:id="R3b07b58ae44c4012"/>
    <p:sldId xmlns:r="http://schemas.openxmlformats.org/officeDocument/2006/relationships" id="263" r:id="R68b3bec4b28b40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da0782fe844b0" /><Relationship Type="http://schemas.openxmlformats.org/officeDocument/2006/relationships/slideMaster" Target="/ppt/slideMasters/slideMaster1.xml" Id="R18e8f4d1833a4356" /><Relationship Type="http://schemas.openxmlformats.org/officeDocument/2006/relationships/notesMaster" Target="/ppt/notesMasters/notesMaster1.xml" Id="R054c2a9f769046ce" /><Relationship Type="http://schemas.openxmlformats.org/officeDocument/2006/relationships/presProps" Target="/ppt/presProps.xml" Id="R90c5af64492b4a9f" /><Relationship Type="http://schemas.openxmlformats.org/officeDocument/2006/relationships/tableStyles" Target="/ppt/tableStyles.xml" Id="Rd0990a6fcfb44607" /><Relationship Type="http://schemas.openxmlformats.org/officeDocument/2006/relationships/slide" Target="/ppt/slides/slide1.xml" Id="R53fded61aae04818" /><Relationship Type="http://schemas.openxmlformats.org/officeDocument/2006/relationships/slide" Target="/ppt/slides/slide2.xml" Id="R05d74831ce8749af" /><Relationship Type="http://schemas.openxmlformats.org/officeDocument/2006/relationships/slide" Target="/ppt/slides/slide3.xml" Id="R2e456a6a2a5a499c" /><Relationship Type="http://schemas.openxmlformats.org/officeDocument/2006/relationships/slide" Target="/ppt/slides/slide4.xml" Id="R33c782e3a32e4011" /><Relationship Type="http://schemas.openxmlformats.org/officeDocument/2006/relationships/slide" Target="/ppt/slides/slide5.xml" Id="Re72d3514655843f0" /><Relationship Type="http://schemas.openxmlformats.org/officeDocument/2006/relationships/slide" Target="/ppt/slides/slide6.xml" Id="Rb67355be8486419b" /><Relationship Type="http://schemas.openxmlformats.org/officeDocument/2006/relationships/slide" Target="/ppt/slides/slide7.xml" Id="R3b07b58ae44c4012" /><Relationship Type="http://schemas.openxmlformats.org/officeDocument/2006/relationships/slide" Target="/ppt/slides/slide8.xml" Id="R68b3bec4b28b40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85c5a78ca24c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3c9d0595844518" /><Relationship Type="http://schemas.openxmlformats.org/officeDocument/2006/relationships/notesMaster" Target="/ppt/notesMasters/notesMaster1.xml" Id="R7983202c251c4d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35aba7586e4eb4" /><Relationship Type="http://schemas.openxmlformats.org/officeDocument/2006/relationships/notesMaster" Target="/ppt/notesMasters/notesMaster1.xml" Id="R3df9e3ad1a464c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faf39bf2848b1" /><Relationship Type="http://schemas.openxmlformats.org/officeDocument/2006/relationships/notesMaster" Target="/ppt/notesMasters/notesMaster1.xml" Id="Rdd32676d352d4e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3c4dddf06f430d" /><Relationship Type="http://schemas.openxmlformats.org/officeDocument/2006/relationships/notesMaster" Target="/ppt/notesMasters/notesMaster1.xml" Id="Ra272c26be57e46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0166dcbb6b4da0" /><Relationship Type="http://schemas.openxmlformats.org/officeDocument/2006/relationships/notesMaster" Target="/ppt/notesMasters/notesMaster1.xml" Id="Rf7ecb08cb66444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9960e3da18478f" /><Relationship Type="http://schemas.openxmlformats.org/officeDocument/2006/relationships/notesMaster" Target="/ppt/notesMasters/notesMaster1.xml" Id="R336688a217134e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c1400e42b04907" /><Relationship Type="http://schemas.openxmlformats.org/officeDocument/2006/relationships/notesMaster" Target="/ppt/notesMasters/notesMaster1.xml" Id="R1333f740178143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f2d11fa7154bed" /><Relationship Type="http://schemas.openxmlformats.org/officeDocument/2006/relationships/notesMaster" Target="/ppt/notesMasters/notesMaster1.xml" Id="R4e69ef9d717447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beefed47643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2eecfe090d4e8e" /><Relationship Type="http://schemas.openxmlformats.org/officeDocument/2006/relationships/slideLayout" Target="/ppt/slideLayouts/slideLayout1.xml" Id="R576a192d821b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a192d821b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6f4e1b85c48cf" /><Relationship Type="http://schemas.openxmlformats.org/officeDocument/2006/relationships/image" Target="/ppt/media/image.png" Id="R3e095e9e887a448d" /><Relationship Type="http://schemas.openxmlformats.org/officeDocument/2006/relationships/image" Target="/ppt/media/image2.png" Id="R8bfe748fa9744207" /><Relationship Type="http://schemas.openxmlformats.org/officeDocument/2006/relationships/image" Target="/ppt/media/image3.png" Id="R6d5bf841fb384414" /><Relationship Type="http://schemas.openxmlformats.org/officeDocument/2006/relationships/notesSlide" Target="/ppt/notesSlides/notesSlide1.xml" Id="Rfb480b690a6d44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8e04118ac4b0b" /><Relationship Type="http://schemas.openxmlformats.org/officeDocument/2006/relationships/notesSlide" Target="/ppt/notesSlides/notesSlide2.xml" Id="R95ea1865c9ac4c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4dbec39664b48" /><Relationship Type="http://schemas.openxmlformats.org/officeDocument/2006/relationships/notesSlide" Target="/ppt/notesSlides/notesSlide3.xml" Id="Rce3ceb645243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e3b1bc571461b" /><Relationship Type="http://schemas.openxmlformats.org/officeDocument/2006/relationships/image" Target="/ppt/media/image4.png" Id="R8829bf019eda4dcd" /><Relationship Type="http://schemas.openxmlformats.org/officeDocument/2006/relationships/notesSlide" Target="/ppt/notesSlides/notesSlide4.xml" Id="R63b406c1e96e4d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b89a16d84072" /><Relationship Type="http://schemas.openxmlformats.org/officeDocument/2006/relationships/image" Target="/ppt/media/image5.png" Id="R238071737de54f15" /><Relationship Type="http://schemas.openxmlformats.org/officeDocument/2006/relationships/notesSlide" Target="/ppt/notesSlides/notesSlide5.xml" Id="R80a8a74ff6e842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0bea3849c49a2" /><Relationship Type="http://schemas.openxmlformats.org/officeDocument/2006/relationships/notesSlide" Target="/ppt/notesSlides/notesSlide6.xml" Id="R7bb10ede1e6142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57177323c4b55" /><Relationship Type="http://schemas.openxmlformats.org/officeDocument/2006/relationships/notesSlide" Target="/ppt/notesSlides/notesSlide7.xml" Id="R26e83b97a7004f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66a575b494097" /><Relationship Type="http://schemas.openxmlformats.org/officeDocument/2006/relationships/notesSlide" Target="/ppt/notesSlides/notesSlide8.xml" Id="Raf025b5350b0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297BE-6747-4399-AA58-A0285DC8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40BD2-2CD7-4184-9731-98397AB3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企业 AI 解决方案与落地服务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61671-7C6A-40CA-96D4-C88E263E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3BDA2-7B33-4E09-8B65-5E6B05B5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5524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让 AI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真正进入业务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6CB96-806D-49BB-B9FB-81B05E1E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 AI 认知、场景共创到应用落地与持续运营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A7D73-3E73-48D0-88C6-8346E56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1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把业务问题做成可运行、可评测、可持续优化的 AI 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00927-DFEF-470F-AC45-23FFE81C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2450"/>
            <a:ext cx="5048250" cy="5753100"/>
          </a:xfrm>
          <a:prstGeom xmlns:a="http://schemas.openxmlformats.org/drawingml/2006/main" prst="roundRect">
            <a:avLst>
              <a:gd name="adj" fmla="val 3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95e9e887a448d"/>
          <a:srcRect xmlns:a="http://schemas.openxmlformats.org/drawingml/2006/main" l="0" t="4985" r="0" b="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800100"/>
            <a:ext cx="4629150" cy="1847850"/>
          </a:xfrm>
          <a:prstGeom xmlns:a="http://schemas.openxmlformats.org/drawingml/2006/main" prst="roundRect">
            <a:avLst>
              <a:gd name="adj" fmla="val 5155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e748fa9744207"/>
          <a:srcRect xmlns:a="http://schemas.openxmlformats.org/drawingml/2006/main" l="9890" t="0" r="98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bf841fb384414"/>
          <a:srcRect xmlns:a="http://schemas.openxmlformats.org/drawingml/2006/main" l="18663" t="0" r="186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2857500"/>
            <a:ext cx="2209800" cy="3162300"/>
          </a:xfrm>
          <a:prstGeom xmlns:a="http://schemas.openxmlformats.org/drawingml/2006/main" prst="roundRect">
            <a:avLst>
              <a:gd name="adj" fmla="val 43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B07E8-1995-4555-A0BB-794A13F9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ENTERPRISE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98C2F-11AB-43B3-9B62-754C9CFC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542836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EFED5-EE17-4DC5-A60C-51D2B605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577D3-88C4-43D6-B302-A7CCB969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F52A2-CA0D-4C78-A175-E8D27B0D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四个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真实难题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0BAC3-2EC1-4A0A-BA5C-B1BAF72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2343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企业 AI 项目真正的挑战，集中在业务、流程和组织落地。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B6B09-EB18-4FEC-BD4F-6AE45D9A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4008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E7955-C9A8-4E14-ADDE-577D5D3C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096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企业不缺 AI，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2536C-9D8C-4BF3-8801-2367C3E8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52525"/>
            <a:ext cx="752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缺的是把 AI 变成业务结果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790C4-B5F7-4789-8E02-46111785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954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从“能演示”走到“能运行、能复制、能持续产生价值”。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8D364-1095-4EDC-AB4E-FF88B618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6CC37-0CCE-4977-BCA2-4C9C6C13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8AD74-C7FB-4696-A255-61802710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场景难选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1AEB1-54B0-483B-A16C-7125987B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想法很多，但不知道哪些问题真正值得投入。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1B3A6-FDE2-4C4F-A27B-1D4B3444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81835-3870-4680-B7C3-16D7ADD7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E1453-A044-4BF8-A765-D6342E0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落地难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95338-68EC-4C09-989A-E84B8287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Demo 容易，接入真实数据、系统、权限和流程很难。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C8080-4C7D-4DAA-B9CA-C27A5C95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7042D-90DD-4BCE-A627-D5ECE5E1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5EFAC-B6EA-4A51-A270-FF92DF3F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规模化难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2EE8C-7756-4CDF-A99A-129E0BC7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一个 PoC 跑通，不代表能稳定上线和复制推广。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87FAE-E49C-4562-83EE-66FE72E9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6245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0E0EC-DBEB-43ED-9409-6FC34BFB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EE4FC-DEFC-4015-8578-2ED4CDCA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组织变革难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9628F-2CC7-4BD0-B20A-34C1AB14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14900"/>
            <a:ext cx="245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 上线后，人、流程、岗位与管理机制没有同步改变。</a:t>
            </a:r>
          </a:p>
        </p:txBody>
      </p:sp>
    </p:spTree>
    <p:extLst>
      <p:ext uri="{BB962C8B-B14F-4D97-AF65-F5344CB8AC3E}">
        <p14:creationId xmlns:p14="http://schemas.microsoft.com/office/powerpoint/2010/main" val="416880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850F9F-F28A-4C98-8FBF-9859F4E5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7A57D-312C-4732-A631-FF2EE6B9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我们怎样开始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FF800-561F-417D-B21E-6822F61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企业 AI 服务与落地路径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3D8F8-3A86-4092-90FF-A3B6A80E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25D98-4976-4479-8B40-B6030BFE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两种进入方式，汇入同一套从共识到运营的交付链路。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8CE35-E530-4415-8B57-37474598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4953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632CE-39D3-490C-9A42-249D5BA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入口一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A24E1-C522-42AF-B367-2C789E47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90E1F-B763-4C02-9950-B2FB20E4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26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 AI 共识、不确定从哪里开始的企业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BF404-B9EF-447C-B9DE-5CD901E5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57150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70984-DEA7-4C7B-8B36-B0467EB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入口二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BE5FF-A2CC-4A9F-AC79-34CD874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明确业务问题直接启动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DBA64-2344-4057-8022-A99F4B8B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适合已经有明确需求、希望快速验证和落地的企业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FE643-A3EC-455B-8A66-4717EAD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973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8DCAD-8BFF-401B-8EBE-3E30A58A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4FB58-EED8-40C0-B9EB-57DF13B5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34C38D-763D-46F5-8CE2-73001DB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认知与诊断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41DAD-CEE0-460A-84C5-159A6F4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AI共识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机会方向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BE0C0-CDBD-423D-9F83-037DA061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E4A4F-BF52-47D7-B451-50F31251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7F249-36F8-4DFA-BAE0-92242F73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场景共创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A0496-CB4C-4E3A-9484-0F790D18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01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场景清单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方案蓝图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A51A0A-6B06-439D-A5DE-5BFE2363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AD63A9-2529-4D18-B51E-0FFEAAF5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F6C89-89AA-48FD-9B8C-21BF142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原型验证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A8C47-E4E3-419D-B559-33D1734C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可演示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可验证原型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B8FF7-D8BF-4E34-B9A3-EC83A350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8E429-3204-438C-861C-63B85656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3B58FF-4F0C-4D9E-9E2A-6047E24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生产交付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3002A3-2C83-4CD2-B58C-3A984F91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系统集成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正式上线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96C19-4C7B-480A-9FB1-4822C8EC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48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3E70C-9C4D-4509-BBB9-DFF1C387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01055-F846-4153-8504-34FA087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运营优化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F2517-32FB-4319-947D-05CD4B0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10125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效果评测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持续迭代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CE879E-FC99-49E4-AC21-3DEC9F6B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934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C33DA3-B611-41E1-88CD-EBC75939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上线导入、关键用户辅导、使用反馈、效果评测与版本优化贯穿交付全程</a:t>
            </a:r>
          </a:p>
        </p:txBody>
      </p:sp>
    </p:spTree>
    <p:extLst>
      <p:ext uri="{BB962C8B-B14F-4D97-AF65-F5344CB8AC3E}">
        <p14:creationId xmlns:p14="http://schemas.microsoft.com/office/powerpoint/2010/main" val="1389693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CDE6F-F953-4889-B5FF-68ECB1B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E338F-EE1D-444B-BC83-FF54EB3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00516-2906-41E7-9053-238D5203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商业化 Agent 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16B9A-E2E3-4E3B-A12F-C66C3AA8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646BA-35BE-486E-A42F-329F6326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支撑商业化 Agent 快速搭建、稳定上线与持续运营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F962F-6690-4400-AAC5-AA2FDB7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05FEB-B2B2-45C3-8D2B-E3CE02E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525B5-E1E1-4AF0-BF58-BB097D58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重复建设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8843A-1F78-4318-BE6B-0D682ACE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不同团队独立开发，Prompt、模型、工具与流程难以复用。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44071-13F7-4C0A-9F67-0A1A8896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43D7D-6C13-4FAF-8C15-ED132E2D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版本发布难以管理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B2D34-004F-4C14-B75A-150AADF6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商业化业务频繁变化，配置调整、测试和发布依赖工程协作。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94118-8CFE-46F9-8DD3-26A681D8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273AF-33C7-432E-9C89-DE0FD4E6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应用质量缺少标准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5E230-A35F-4A06-ACD9-AE166B28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各个 Agent 各自测试，版本升级后效果难以对比和追踪。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C297D-5C1C-4C0E-A22D-C211A242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09750"/>
            <a:ext cx="6762750" cy="3219450"/>
          </a:xfrm>
          <a:prstGeom xmlns:a="http://schemas.openxmlformats.org/drawingml/2006/main" prst="roundRect">
            <a:avLst>
              <a:gd name="adj" fmla="val 41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9bf019eda4dcd"/>
          <a:srcRect xmlns:a="http://schemas.openxmlformats.org/drawingml/2006/main" l="880" t="0" r="8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62150"/>
            <a:ext cx="6457950" cy="291465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E3A58-9A63-484F-8455-6E92D3C5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C37FE-A0BB-4B01-AF24-BED9E472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12+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44D91-733C-446E-BBF1-1D486C04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商业化 Agent 上线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194C4-6733-4800-98EA-74C333F8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完成搭建、测试并投入真实业务使用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CA38A-6FB5-47EB-84D4-A099907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3C27A-02C5-42C5-AE5D-B31637CC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0449A-06F8-45D5-ACBB-DD79C1FB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Agent 搭建周期缩短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802DB-6816-4120-92AB-E6033FDF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平均搭建周期由约 4 周缩短至 10 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4ED96-838C-49A6-8B32-9905B268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CE7CE-D1EA-470E-A6BF-D6A21CE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75%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BF56B9-A259-452A-9156-6CF6FD08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版本迭代时间减少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0D45E-6A57-4FD7-A07D-0F85A0C7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81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常规配置调整与发布由 2 天缩短至半天</a:t>
            </a:r>
          </a:p>
        </p:txBody>
      </p:sp>
    </p:spTree>
    <p:extLst>
      <p:ext uri="{BB962C8B-B14F-4D97-AF65-F5344CB8AC3E}">
        <p14:creationId xmlns:p14="http://schemas.microsoft.com/office/powerpoint/2010/main" val="1023899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C4D74-3C4D-4FD4-A3BA-32BAA16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3F34F-8779-4C4D-AFC6-05B4E993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04D35-2403-4238-9996-FF158634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781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TikTok Shop 广告诊断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3D375-81DD-4871-8E12-D1E6C989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104CA-95FD-486F-BBF1-D50F9746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汇总大量投放诊断数据，帮助广告主快速定位问题并完成优化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C84C7-6800-46B8-B042-3D45A66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业务挑战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88099-013E-405B-B1AA-689A9ADA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7B380-C274-40E9-8D4A-8DA020F0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诊断链路复杂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01918-838E-4149-847C-E33B9AC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需要跨店铺、商品、Campaign和数据报表反复排查。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D187B-5276-4DEC-93AB-68FA8C9C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1496A-5D52-40A4-B95E-BFC5CD2E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投放问题难以归因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12530-C001-4E32-A731-E0714877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预算、商品、库存、转化率和广告设置等多个因素相互影响。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C9B7A-81FE-45A5-B4B8-AB69F836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95688-F2BE-47AA-A753-74161DF5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专家服务难以规模化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085D1-FD89-4693-886F-F370D81F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复杂问题依赖平台运营和广告专家人工分析。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39FF6-20FE-4CFA-9BA5-1D329D41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71437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071737de54f15"/>
          <a:srcRect xmlns:a="http://schemas.openxmlformats.org/drawingml/2006/main" l="0" t="33136" r="0" b="33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962150"/>
            <a:ext cx="6838950" cy="2647950"/>
          </a:xfrm>
          <a:prstGeom xmlns:a="http://schemas.openxmlformats.org/drawingml/2006/main" prst="roundRect">
            <a:avLst>
              <a:gd name="adj" fmla="val 323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EC41D-3EC5-46AA-B862-FFE01674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09347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DC089-0EB1-42BC-868C-6F3642B2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62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账户数据    广告计划    预算    商品    库存    流量    订单    转化率    ROI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6F41E-8B74-462C-9115-56347947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BC79D-7ABC-41F2-BF36-F396B13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30+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DA67D-98B8-44AB-BB95-D913A876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投放诊断指标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94F61-BCFD-4692-BEBB-4822A565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综合分析账户、广告、商品与转化数据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1A2A0-3D22-483E-B2E4-6761A676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1C824-7059-4C7E-AE57-1471A89F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&lt;3 分钟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C9E5C-2045-4AE1-A018-E69FEA39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完成初步问题诊断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9647F-AD4D-426F-A8DC-CDDBF976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从跨页面排查收敛为一次对话式诊断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22C82-AB0A-4289-981A-1F16B80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55ECB-5EDD-453E-86CC-EAC5D3CD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449C1-53AA-4A94-ADB6-3C50406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10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高频问题自助解决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A947C-2758-467E-AD34-06686D32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86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减少对平台运营和广告专家的重复咨询</a:t>
            </a:r>
          </a:p>
        </p:txBody>
      </p:sp>
    </p:spTree>
    <p:extLst>
      <p:ext uri="{BB962C8B-B14F-4D97-AF65-F5344CB8AC3E}">
        <p14:creationId xmlns:p14="http://schemas.microsoft.com/office/powerpoint/2010/main" val="230372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25479D-1BAF-4014-9FB6-0D5FB558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0840F-98DC-450D-9A39-A50919DA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案例三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DC5F4-D5EE-4725-8E14-755E53F5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00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保诚保险团队智能工作台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87EDE-4E46-406E-B945-1053FA8C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5A015-92EA-4782-A65E-30FBB259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将团队社区、保险知识问答与客户计划书统一到一个小程序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FD0B0-D907-4FE1-B943-61FE086F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524E5-7583-40DE-989D-75C7D26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990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团队经验难沉淀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5031A-DF63-4206-9819-4822B662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99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市场信息、销售经验和优秀资料散落在微信群及个人设备。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0D396-7626-4195-BA25-0FAC1A0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43100"/>
            <a:ext cx="33337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8E39C-E462-4A3E-B8D6-9C1190A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2990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保险知识查询效率低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92E88-6D7A-4262-9531-C9716A89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99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产品条款、核保规则与销售资料分散，复杂问题依赖资深顾问。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E369A-5CE1-4ECA-B364-CB8F3B23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3337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B66FF-E3A9-4782-8159-D6ED8B19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990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计划书复杂，反馈不可见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409CF-DE7A-43FF-8222-AEBC487C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990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传统制作流程耗时，发送后无法掌握客户的查看情况与关注程度。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97AA9-A89E-4F97-9A1E-F8D7649B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ECDF8-AAB0-4F2A-BDA4-7061E7F1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团队社区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19DD3-CD72-43DB-B7EC-5EE14BCB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7719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4EE73-6591-4975-AE91-A3EAEC7F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团队动态与业务资料集中沉淀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成员审批、团队切换与共同管理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文字、图片、附件、点赞与评论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E4521-48E7-4728-82EB-1DE2738E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333750" cy="224790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CB170-6F70-4F45-8E00-932778DD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保险知识助手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8178C-7AE7-4F01-B202-78740BD1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719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3E935-B19C-4B61-8B14-04014E8A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0025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基于团队知识库回答产品、核保与销售问题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使用 @文件 指定一个或多个业务资料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答案展示引用来源，可直接返回原文核对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34DF8-365D-494A-B08D-E9E4151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333375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7D6AC-74A2-49D8-8009-FE60DB91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智能计划书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77B28-229F-4D93-B9E1-BF298633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719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3BC1A-2A6C-40D2-AEE2-A81CFB9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0025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选择模板并输入年龄、性别、保额等参数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自动生成标准化计划书，支持微信转发与长图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记录客户查看时间和查看时长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ABE01-9806-4603-856E-FD64EC01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849272-FD38-4944-9AAD-8E628B7D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1055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团队沉淀资料     顾问调用知识     生成客户计划书     跟踪客户反馈</a:t>
            </a:r>
          </a:p>
        </p:txBody>
      </p:sp>
    </p:spTree>
    <p:extLst>
      <p:ext uri="{BB962C8B-B14F-4D97-AF65-F5344CB8AC3E}">
        <p14:creationId xmlns:p14="http://schemas.microsoft.com/office/powerpoint/2010/main" val="655012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82EC04-FFFE-416C-ABF8-890C519B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3C065-F1E8-4D24-987E-9A50C4A8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为什么选择我们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7B703-059C-42ED-8AA8-4594D8D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能够把 AI 项目真正交付到业务中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94A51-BB20-4DEF-BC13-4D9FE4CB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FD17F-9559-4DA4-AD5D-5BBA595D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703E8-A868-4A54-8C86-A561F922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业务理解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9E869-6479-49DC-A1C9-02063184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从企业经营目标和岗位流程出发识别真实问题。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EBF67-957D-48B7-BDFB-567A3977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14990-7488-4606-A61D-70A42EA7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端到端交付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6DD33-9E76-4F85-BEBA-50379EF1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覆盖培训、方案、原型、开发、系统集成和上线。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842FF-CF99-4B31-948C-B07E53C0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4A960-9843-4CBA-873E-603FDB6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平台化建设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CC785-E157-47E9-AE2F-A42FAD73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既能交付单个应用，也能统一管理多个 Agent。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FBE3A-8867-4C91-9FF9-B4400860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A5EE7-D4B6-4700-A379-3EE800E9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持续运营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BB0E7-39E1-4DB8-8F34-2EFFE8AE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用户导入、效果评测、问题复盘和版本优化持续进行。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2E1E1-B291-4230-B9EB-B4F8CE0B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03F5C-4D5F-44F4-AD9B-08E80869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核心团队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CF437-6775-423B-A64A-39F93809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CD294-8C32-4CB0-B9C0-EFEE85A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AF0AC-85C3-4D08-B85D-B88F53A5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9A25A-76EE-4748-99B8-A261D05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陈启明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950F4-D777-4118-8B02-F640C0C2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创始人 / 首席 AI 解决方案专家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78019-2B33-4C82-8B27-114329AE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负责企业 AI 战略咨询、场景设计与项目总体方案。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1520F-DDA4-4479-97A9-CC1BB0FD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9525">
            <a:solidFill>
              <a:srgbClr val="AF503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30D47E-8416-4EA5-8B53-20B9D766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D9A6C2-D487-41C8-BBC5-D8B907C9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3C5BEC-0B58-429F-8D7D-765B8A0A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林若川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C810CB-B9CA-4FD8-B886-BED7D044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联合创始人 / AI 平台与工程负责人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C7B9B-B651-4939-A4D5-E9F0AA6E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负责 Agent 平台、知识系统、数据连接和生产交付。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CAE82C-EB6F-47F7-8711-1F7F8CA3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B9B91-9897-4C88-A931-E6941104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70B5F6-758D-4F7D-BBC2-FE2C46E0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B4672C-48D3-43DB-9E8A-76D436C1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周婧妍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B8D774-725B-4582-901F-B19F690F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815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客户成功与 AI 赋能负责人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1C69A-584C-4229-ABDF-D428A0E5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2445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负责管理层培训、场景工作坊、上线导入和持续运营。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332700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E7DFB-89DC-497E-A91C-4192C3B2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093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72DB3-274C-4D7C-AF7F-6CE05958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合作方式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6DFC6-2B06-406C-B927-D1BF980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两种方式启动企业 AI 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F6007-BC5D-4E52-BBC9-1C43C522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922A5-8E71-4E7B-B3F9-7910985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从认知开始，或者带着明确问题直接进入解决方案共创。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3DF07-59D1-4601-99E9-063793B9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43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AF50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A1026-C721-450D-B55E-47470E6F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F3314-6E2B-4E17-BB24-BD2037FD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认知培训与场景工作坊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8EE62-15C1-458F-820B-BEE61177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适合尚未形成统一 AI 认知、不确定从哪里开始的企业。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E097D-AA70-4BCD-B8D3-86AE23DE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管理层培训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行业案例拆解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部门业务访谈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场景共创工作坊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7B590-4CE9-4F45-8230-ED3ECB37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767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交付：企业 AI 机会地图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10E33-EC02-4903-89D4-47640F2C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5245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BAA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CEDB1-5B2E-47F0-BDCD-E95614FD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40EA9-9646-42AB-BF3F-9D60EE8F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AI 解决方案设计与落地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7BA2C-C8FF-4F10-9645-C5503F7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适合已经存在明确业务问题、希望快速验证并正式上线的企业。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75C99-2D34-4E83-B952-8B83B3C0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552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业务诊断与方案设计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PoC 原型验证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系统开发与集成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上线运营与持续优化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1C1DB-FCF7-46A4-BA3B-AECD1A81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76725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AF5033"/>
                </a:solidFill>
                <a:latin typeface="Hiragino Sans GB"/>
                <a:ea typeface="Hiragino Sans GB"/>
                <a:cs typeface="Hiragino Sans GB"/>
              </a:rPr>
              <a:t>交付：可正式运行的 AI 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928B0-DC96-4194-B617-47B465B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9347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9DE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584FA-385C-450A-BE7B-57E3332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 i="0">
                <a:solidFill>
                  <a:srgbClr val="873B28"/>
                </a:solidFill>
                <a:latin typeface="Hiragino Sans GB"/>
                <a:ea typeface="Hiragino Sans GB"/>
                <a:cs typeface="Hiragino Sans GB"/>
              </a:rPr>
              <a:t>从一次业务场景访谈开始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03639-9F2A-4F82-9BB7-0B5CDFAC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i="0">
                <a:solidFill>
                  <a:srgbClr val="6D645C"/>
                </a:solidFill>
                <a:latin typeface="Hiragino Sans GB"/>
                <a:ea typeface="Hiragino Sans GB"/>
                <a:cs typeface="Hiragino Sans GB"/>
              </a:rPr>
              <a:t>识别值得先做的场景，明确试点边界与价值目标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30F0F-146D-4B62-99C4-EA5E7D94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388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 i="0">
                <a:solidFill>
                  <a:srgbClr val="211F1C"/>
                </a:solidFill>
                <a:latin typeface="Hiragino Sans GB"/>
                <a:ea typeface="Hiragino Sans GB"/>
                <a:cs typeface="Hiragino Sans GB"/>
              </a:rPr>
              <a:t>联系人   电话 / 微信</a:t>
            </a:r>
          </a:p>
        </p:txBody>
      </p:sp>
    </p:spTree>
    <p:extLst>
      <p:ext uri="{BB962C8B-B14F-4D97-AF65-F5344CB8AC3E}">
        <p14:creationId xmlns:p14="http://schemas.microsoft.com/office/powerpoint/2010/main" val="1773306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2026-10-01T14:16:14.0530000Z</dcterms:created>
  <dcterms:modified xsi:type="dcterms:W3CDTF">2026-10-01T14:16:14.0530000Z</dcterms:modified>
</coreProperties>
</file>