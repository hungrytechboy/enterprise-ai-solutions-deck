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f1dd21d17e48c8" /><Relationship Type="http://schemas.openxmlformats.org/officeDocument/2006/relationships/extended-properties" Target="/docProps/app.xml" Id="R922b83654e85438e" /><Relationship Type="http://schemas.openxmlformats.org/officeDocument/2006/relationships/officeDocument" Target="/ppt/presentation.xml" Id="Rb87b678120304d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bff9ab97c4eba"/>
  </p:sldMasterIdLst>
  <p:notesMasterIdLst>
    <p:notesMasterId xmlns:r="http://schemas.openxmlformats.org/officeDocument/2006/relationships" r:id="Rbe65be808d8f4728"/>
  </p:notesMasterIdLst>
  <p:sldIdLst>
    <p:sldId xmlns:r="http://schemas.openxmlformats.org/officeDocument/2006/relationships" id="256" r:id="R029b47d2673c4b22"/>
    <p:sldId xmlns:r="http://schemas.openxmlformats.org/officeDocument/2006/relationships" id="257" r:id="R48e1a2648d34464e"/>
    <p:sldId xmlns:r="http://schemas.openxmlformats.org/officeDocument/2006/relationships" id="258" r:id="Re06b1ce126894d7f"/>
    <p:sldId xmlns:r="http://schemas.openxmlformats.org/officeDocument/2006/relationships" id="259" r:id="R7a942746412646a9"/>
    <p:sldId xmlns:r="http://schemas.openxmlformats.org/officeDocument/2006/relationships" id="260" r:id="R9a5d0b88c8df4095"/>
    <p:sldId xmlns:r="http://schemas.openxmlformats.org/officeDocument/2006/relationships" id="261" r:id="R0d276b7d6f4c40ea"/>
    <p:sldId xmlns:r="http://schemas.openxmlformats.org/officeDocument/2006/relationships" id="262" r:id="Rc803f9b210ba41f3"/>
    <p:sldId xmlns:r="http://schemas.openxmlformats.org/officeDocument/2006/relationships" id="263" r:id="R55ca713255774a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169d99413148b4" /><Relationship Type="http://schemas.openxmlformats.org/officeDocument/2006/relationships/slideMaster" Target="/ppt/slideMasters/slideMaster1.xml" Id="R558bff9ab97c4eba" /><Relationship Type="http://schemas.openxmlformats.org/officeDocument/2006/relationships/notesMaster" Target="/ppt/notesMasters/notesMaster1.xml" Id="Rbe65be808d8f4728" /><Relationship Type="http://schemas.openxmlformats.org/officeDocument/2006/relationships/presProps" Target="/ppt/presProps.xml" Id="Red1f8cc81f4041f9" /><Relationship Type="http://schemas.openxmlformats.org/officeDocument/2006/relationships/tableStyles" Target="/ppt/tableStyles.xml" Id="R135adc5715e549c6" /><Relationship Type="http://schemas.openxmlformats.org/officeDocument/2006/relationships/slide" Target="/ppt/slides/slide1.xml" Id="R029b47d2673c4b22" /><Relationship Type="http://schemas.openxmlformats.org/officeDocument/2006/relationships/slide" Target="/ppt/slides/slide2.xml" Id="R48e1a2648d34464e" /><Relationship Type="http://schemas.openxmlformats.org/officeDocument/2006/relationships/slide" Target="/ppt/slides/slide3.xml" Id="Re06b1ce126894d7f" /><Relationship Type="http://schemas.openxmlformats.org/officeDocument/2006/relationships/slide" Target="/ppt/slides/slide4.xml" Id="R7a942746412646a9" /><Relationship Type="http://schemas.openxmlformats.org/officeDocument/2006/relationships/slide" Target="/ppt/slides/slide5.xml" Id="R9a5d0b88c8df4095" /><Relationship Type="http://schemas.openxmlformats.org/officeDocument/2006/relationships/slide" Target="/ppt/slides/slide6.xml" Id="R0d276b7d6f4c40ea" /><Relationship Type="http://schemas.openxmlformats.org/officeDocument/2006/relationships/slide" Target="/ppt/slides/slide7.xml" Id="Rc803f9b210ba41f3" /><Relationship Type="http://schemas.openxmlformats.org/officeDocument/2006/relationships/slide" Target="/ppt/slides/slide8.xml" Id="R55ca713255774a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c15688c94642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f51cefa19d40a9" /><Relationship Type="http://schemas.openxmlformats.org/officeDocument/2006/relationships/notesMaster" Target="/ppt/notesMasters/notesMaster1.xml" Id="Rdcd8a06b693d4e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3f1cc88bb46f0" /><Relationship Type="http://schemas.openxmlformats.org/officeDocument/2006/relationships/notesMaster" Target="/ppt/notesMasters/notesMaster1.xml" Id="Rf92023d8e1484d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76676059ca41cf" /><Relationship Type="http://schemas.openxmlformats.org/officeDocument/2006/relationships/notesMaster" Target="/ppt/notesMasters/notesMaster1.xml" Id="Rc05f483edcf94a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cf87e8280d4253" /><Relationship Type="http://schemas.openxmlformats.org/officeDocument/2006/relationships/notesMaster" Target="/ppt/notesMasters/notesMaster1.xml" Id="R764191d7b35e48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a3e99c59034e23" /><Relationship Type="http://schemas.openxmlformats.org/officeDocument/2006/relationships/notesMaster" Target="/ppt/notesMasters/notesMaster1.xml" Id="R62b54bd84e154c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0f4134feb04c0a" /><Relationship Type="http://schemas.openxmlformats.org/officeDocument/2006/relationships/notesMaster" Target="/ppt/notesMasters/notesMaster1.xml" Id="Ra3f9819f04bc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7025ad00404281" /><Relationship Type="http://schemas.openxmlformats.org/officeDocument/2006/relationships/notesMaster" Target="/ppt/notesMasters/notesMaster1.xml" Id="R4df88d76680a4c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838a5690d04795" /><Relationship Type="http://schemas.openxmlformats.org/officeDocument/2006/relationships/notesMaster" Target="/ppt/notesMasters/notesMaster1.xml" Id="Rec2b753525c54a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e827dc9f044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5c04aea03e43af" /><Relationship Type="http://schemas.openxmlformats.org/officeDocument/2006/relationships/slideLayout" Target="/ppt/slideLayouts/slideLayout1.xml" Id="R6ba005f1db55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a005f1db55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fc7715b52453c" /><Relationship Type="http://schemas.openxmlformats.org/officeDocument/2006/relationships/image" Target="/ppt/media/image.png" Id="Raed5b55cf57c4ce5" /><Relationship Type="http://schemas.openxmlformats.org/officeDocument/2006/relationships/image" Target="/ppt/media/image2.png" Id="R6632c748a7d84f1c" /><Relationship Type="http://schemas.openxmlformats.org/officeDocument/2006/relationships/image" Target="/ppt/media/image3.png" Id="Rb28748f2e4774581" /><Relationship Type="http://schemas.openxmlformats.org/officeDocument/2006/relationships/notesSlide" Target="/ppt/notesSlides/notesSlide1.xml" Id="Rf76783e6e5c947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70f0a0a2848e0" /><Relationship Type="http://schemas.openxmlformats.org/officeDocument/2006/relationships/notesSlide" Target="/ppt/notesSlides/notesSlide2.xml" Id="R548612045a4a4b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ed4e6d1f84111" /><Relationship Type="http://schemas.openxmlformats.org/officeDocument/2006/relationships/notesSlide" Target="/ppt/notesSlides/notesSlide3.xml" Id="R264319e6418141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9c5d383314ae1" /><Relationship Type="http://schemas.openxmlformats.org/officeDocument/2006/relationships/image" Target="/ppt/media/image4.png" Id="Rbd6931dc28524ef4" /><Relationship Type="http://schemas.openxmlformats.org/officeDocument/2006/relationships/image" Target="/ppt/media/image5.png" Id="R2ac1bae179814d1b" /><Relationship Type="http://schemas.openxmlformats.org/officeDocument/2006/relationships/image" Target="/ppt/media/image6.png" Id="Rfea0dd2392524967" /><Relationship Type="http://schemas.openxmlformats.org/officeDocument/2006/relationships/notesSlide" Target="/ppt/notesSlides/notesSlide4.xml" Id="Rbbeb015b0f7e42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d96b24eb940a5" /><Relationship Type="http://schemas.openxmlformats.org/officeDocument/2006/relationships/image" Target="/ppt/media/image7.png" Id="R97ff9c06690b4ae5" /><Relationship Type="http://schemas.openxmlformats.org/officeDocument/2006/relationships/image" Target="/ppt/media/image8.png" Id="R1bd2575088a24295" /><Relationship Type="http://schemas.openxmlformats.org/officeDocument/2006/relationships/notesSlide" Target="/ppt/notesSlides/notesSlide5.xml" Id="R5728ba601d2d4f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6d78f755b4ada" /><Relationship Type="http://schemas.openxmlformats.org/officeDocument/2006/relationships/notesSlide" Target="/ppt/notesSlides/notesSlide6.xml" Id="R08e86bbdac114d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813daf42046cc" /><Relationship Type="http://schemas.openxmlformats.org/officeDocument/2006/relationships/notesSlide" Target="/ppt/notesSlides/notesSlide7.xml" Id="R5aafecf0c8fe49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cefccd022434f" /><Relationship Type="http://schemas.openxmlformats.org/officeDocument/2006/relationships/notesSlide" Target="/ppt/notesSlides/notesSlide8.xml" Id="R9b562630590748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DA704-CD57-491F-9AA6-A881934F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2EA36-D16B-4A59-943D-7CBE771E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企业 AI 解决方案与落地服务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60906-608D-4BAF-951D-0FD4DF6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B369C-F5A5-4CCC-B5D1-B09EE5A3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5524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让 AI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真正进入业务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9204C-C580-467B-B0C9-4685902B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 AI 认知、场景共创到应用落地与持续运营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2B380-617E-4FE9-A18C-4FE4BEB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1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1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把业务问题做成可运行、可评测、可持续优化的 AI 应用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ED2CB-CA61-4A15-9070-194F6C71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048250" cy="5753100"/>
          </a:xfrm>
          <a:prstGeom xmlns:a="http://schemas.openxmlformats.org/drawingml/2006/main" prst="roundRect">
            <a:avLst>
              <a:gd name="adj" fmla="val 3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5b55cf57c4ce5"/>
          <a:srcRect xmlns:a="http://schemas.openxmlformats.org/drawingml/2006/main" l="0" t="4985" r="0" b="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800100"/>
            <a:ext cx="4629150" cy="1847850"/>
          </a:xfrm>
          <a:prstGeom xmlns:a="http://schemas.openxmlformats.org/drawingml/2006/main" prst="roundRect">
            <a:avLst>
              <a:gd name="adj" fmla="val 5155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2c748a7d84f1c"/>
          <a:srcRect xmlns:a="http://schemas.openxmlformats.org/drawingml/2006/main" l="9890" t="0" r="9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2857500"/>
            <a:ext cx="2209800" cy="31623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748f2e4774581"/>
          <a:srcRect xmlns:a="http://schemas.openxmlformats.org/drawingml/2006/main" l="18663" t="0" r="186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2857500"/>
            <a:ext cx="2209800" cy="31623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BD9EA-F7D0-4D05-A51F-A2408566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ENTERPRISE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12234-FBB4-4180-9E43-654426D6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749477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A8508-2FC8-427A-A909-D31B6DA9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A55F3-CF87-4734-A33D-B2128CFA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6B94E-92EC-413D-BE66-0CCCC2A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四个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真实难题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95243-1058-4E2B-853A-2E799BC6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343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真正的挑战集中在业务选择、落地执行和组织协同。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24126-F800-4774-A52A-48E3FD05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400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ECABC-7396-43A1-B311-DA8FDB0E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9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企业不缺 AI，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AFB8C-637E-41B9-BB40-F8796FAE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525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缺的是把 AI 变成业务结果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ACEE-A8D5-48B8-A245-C302DA1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95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从“能演示”走到“能运行、能复制、能持续产生价值”。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8444A-DF30-49BF-B128-F1872C6A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B04CB-3256-4A4F-B576-662E179B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CD0A9-BB1A-4758-B9A7-0A70B59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场景难选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EADB6-A7DA-49A2-8DBE-40CC197F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想法很多，但不知道哪些问题真正值得投入。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14C90-BD5B-4365-98FB-9E706C77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8260B-4B24-4F86-B3D0-B49431AD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C0C93-574E-4BEC-937F-078C00AA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落地难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5C31E-09DB-4E4A-901F-D51538D7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Demo 容易，接入真实数据、系统、权限和流程很难。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A5555-0FC5-44A9-A36E-0D56070E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36CD6-B08C-4A75-9B43-ADBC4043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169DC-6042-4BDE-ABE0-83E0D86D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规模化难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45949-625B-4357-88EE-B3C1499A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一个 PoC 跑通，不代表能稳定上线和复制推广。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B938F-F69F-44D5-A160-71C3D6F4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BDF30-EF62-4EC0-9B31-5263705F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66C89-EB74-40EB-8837-B6E0B524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组织变革难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6E78C-797B-422B-8C4B-153B8A20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 上线后，人、流程、岗位与管理机制没有同步改变。</a:t>
            </a:r>
          </a:p>
        </p:txBody>
      </p:sp>
    </p:spTree>
    <p:extLst>
      <p:ext uri="{BB962C8B-B14F-4D97-AF65-F5344CB8AC3E}">
        <p14:creationId xmlns:p14="http://schemas.microsoft.com/office/powerpoint/2010/main" val="1234488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9A18A5-A466-4F80-93D0-7C25D9BE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E8EDF-1807-41B1-9781-6A12C792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我们怎样开始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F6F50-A047-41DB-84E7-CAA5E215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服务与落地路径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07228-7E0C-43DF-ACEF-85650D7C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ACFC3-283D-4865-8184-2C166A3B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两种进入方式，汇入同一套从共识到运营的交付链路。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A1DE2-7EDF-4EF8-B140-EFC4AADA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0E0A1-0F63-40DE-AEE4-99FC4BE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入口一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381D7-0611-4D58-8A70-CF2D96B0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6031F-FCCF-43EF-B865-A5E0F351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 AI 共识、不确定从哪里开始的企业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822E4-91A5-4F3F-8B64-E5C27A25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715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F9DAE-632E-4EFB-B6B8-8800FDA3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入口二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AC958-90C3-4E8F-8FAB-5AF27379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明确业务问题直接启动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1B199-1E1D-4CAD-BAE6-360902BA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适合已经有明确需求、希望快速验证和落地的企业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FDF4E-B186-4513-AF6F-27993C50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73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1B6A3-2998-4E6B-B922-850F2755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7D240-3A63-489E-9E77-FD7B0E30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6E2ED-555F-4B39-B922-B60602F8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认知与诊断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CF7FE-5765-4177-9800-57B99E91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AI共识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机会方向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CECC0-5509-4345-A062-A78727CE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E164D-FFE2-4C38-BA83-D43B0AF3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7937-D96D-4105-8E6B-2225FFF5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F0262-448D-492C-88C1-E8EF22C5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场景清单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方案蓝图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8ABFF-0D1F-4048-8CE0-16A8075A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A303B-6C74-450A-9FDB-6C55429A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EB619-D87F-4BD3-8BC8-58101EC1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原型验证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8EF63-CD42-4CFD-A8EE-6F9DF763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可演示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可验证原型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798BB-89F4-46EC-BFF5-401A0422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B54CD-81ED-46D9-9BD4-38490389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9F35F2-5E81-42C7-83C8-4232CB58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生产交付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4CE79-B8CE-41F9-B756-AF0FE6A0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系统集成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正式上线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4FDB4-8549-4CB7-B0E1-42EB7A07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B7553-5533-415F-A295-36FDF2C2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088C05-08BB-4B18-8FA0-621A9A69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运营优化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91755-880F-4798-A114-6FD9BCB1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效果评测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持续迭代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B87B3-D26E-4720-81EF-3787CD06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DDDCCE-F49A-4FA8-9988-6CA2F0C0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上线导入、使用辅导、效果评测与版本优化贯穿交付全程</a:t>
            </a:r>
          </a:p>
        </p:txBody>
      </p:sp>
    </p:spTree>
    <p:extLst>
      <p:ext uri="{BB962C8B-B14F-4D97-AF65-F5344CB8AC3E}">
        <p14:creationId xmlns:p14="http://schemas.microsoft.com/office/powerpoint/2010/main" val="1907747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EEDC6F-67DA-4BF6-B173-79DB2021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72C79-BAA4-4879-B848-B8679E7A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CDCCB-214D-447F-B653-5D5D5801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商业化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FA251-6FB6-45DB-9284-89E1D5F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02C1F-F1A0-4629-A253-D706D4FE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支撑商业化 Agent 快速搭建、稳定上线与持续运营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94D48-BC98-4628-87F5-F59FE37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B687A-FFDD-47FE-8A4F-AF6AB256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3F70F-0DCB-4993-AD27-258EE3D3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重复建设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C0DB6-C1B6-4CEB-A4FB-0C121AE5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各团队独立开发，Prompt、模型与工具难以复用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F008F-CEBA-4C6E-B3F1-45374C3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44F4D-FEE3-49E5-8B8C-AF4C9CF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版本发布难以管理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1C3C4-68BC-4B57-AF77-772556E4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配置频繁变化，测试与发布长期依赖工程协作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CA2D5-6A2E-4F31-9172-6AFC9E3B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16B94-2855-4F19-8034-AC87BCA2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应用质量缺少标准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09AD6-60FE-44A6-93B8-CC645C2E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各个 Agent 各自测试，版本升级后难以对比效果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0C123-31C6-4FC8-ADB9-0C23B13D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47625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931dc28524ef4"/>
          <a:srcRect xmlns:a="http://schemas.openxmlformats.org/drawingml/2006/main" l="16094" t="0" r="16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4457700" cy="291465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A145B-2C42-436D-8412-7B5D3DBE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1bae179814d1b"/>
          <a:srcRect xmlns:a="http://schemas.openxmlformats.org/drawingml/2006/main" l="0" t="6853" r="0" b="6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190500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4E623-045B-4B9D-A531-74559F37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版本管理与发布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A0BF6-168D-4AE8-91DD-09F3814B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0dd2392524967"/>
          <a:srcRect xmlns:a="http://schemas.openxmlformats.org/drawingml/2006/main" l="0" t="28933" r="0" b="28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360045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64B88-3F6F-44A3-BDA4-B2F03A03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效果评测与优化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B9F99-81FA-4CDE-A64A-24DB8B0E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BF632-1270-487D-A9B4-1D455389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12+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67018-8359-4235-A7AD-5FF10FB2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商业化 Agent 上线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5900B-84AC-49F0-B9A8-C1DFF415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完成搭建、测试并投入真实业务使用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67EB3-ADF0-4707-ABC7-C7FAB2EC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E7C744-A74B-4A80-B3CF-E36C9AA3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CC0F8-8639-49F6-A7F3-EACB2B90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搭建周期缩短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BFB506-F2F6-406C-9B66-DEE4E14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平均搭建周期由约 4 周缩短至 10 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5720E-B579-4359-9A83-7A0422D2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BA85C-9BCD-4915-9C90-C8D81B03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75%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7BCF4-92DE-49CA-BB91-BA417BAE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版本迭代时间减少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07E40F-DC74-47E7-B19B-0E5EA440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常规配置调整与发布由 2 天缩短至半天</a:t>
            </a:r>
          </a:p>
        </p:txBody>
      </p:sp>
    </p:spTree>
    <p:extLst>
      <p:ext uri="{BB962C8B-B14F-4D97-AF65-F5344CB8AC3E}">
        <p14:creationId xmlns:p14="http://schemas.microsoft.com/office/powerpoint/2010/main" val="2071696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AE7A43-11BF-4B19-976D-29846435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2484C-9A94-4380-86AE-5E11CD6F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AC009-CD70-4AD8-9D91-C3E3B3A7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Shop 广告诊断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848D7-A11D-4777-80D0-C5294513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A5529-B1FD-4C6E-B5B4-6DB6FFF2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汇总大量投放诊断数据，帮助广告主快速定位问题并完成优化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E3BB0-3D03-4F58-AF06-7EBBFE3A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4538F-A598-4CE9-B9C0-389462FC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DD0FC-23A1-4F98-AB4D-8E19D770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诊断链路复杂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B7EE7-78BF-4F3F-B474-9EA6B4D5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需要跨店铺、商品、Campaign和数据报表反复排查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E9763-C612-43C1-AE7F-F5F28E8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FDD8C-99F5-4D77-9D3F-1CFCE28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投放问题难以归因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3C11E-D97C-49F3-9A55-46B7D05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预算、商品、库存、转化率和广告设置相互影响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58AD5-2307-4948-9E24-09F15E67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B6570-D450-4EAB-93A0-E0D8DA8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专家服务难以规模化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F4F70-EA04-4DA1-B75B-439A2CB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复杂问题依赖平台运营和广告专家人工分析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E4AFA-4442-460E-A506-3569743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71437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f9c06690b4ae5"/>
          <a:stretch xmlns:a="http://schemas.openxmlformats.org/drawingml/2006/main"/>
        </p:blipFill>
        <p:spPr>
          <a:xfrm xmlns:a="http://schemas.openxmlformats.org/drawingml/2006/main">
            <a:off x="4618844" y="1962150"/>
            <a:ext cx="2306613" cy="264795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2575088a24295"/>
          <a:srcRect xmlns:a="http://schemas.openxmlformats.org/drawingml/2006/main" l="0" t="23093" r="0" b="23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962150"/>
            <a:ext cx="4286250" cy="2647950"/>
          </a:xfrm>
          <a:prstGeom xmlns:a="http://schemas.openxmlformats.org/drawingml/2006/main" prst="roundRect">
            <a:avLst>
              <a:gd name="adj" fmla="val 323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FB9FC-B0E3-4454-8128-7B7FA50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34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7E6DE-B058-4D6B-8986-AB69B801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账户数据    广告计划    预算    商品    库存    流量    订单    转化率    ROI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9EA07-9F03-4680-8BCB-366162A7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880A9-CAC7-4CC0-9448-14BBD90E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7F5F7-6136-4B6B-9ECC-41B4EA3D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投放诊断指标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D5631-42D3-4563-BA9B-507733B2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综合分析账户、广告、商品与转化数据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C6200-A589-4222-9350-BFA7A234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FA817-C105-4E7A-A743-A7995965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&lt;3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9E765-9603-4572-92B8-F0742563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完成初步问题诊断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5D191-CFC8-409B-AA45-C64C6FF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从跨页面排查收敛为一次对话式诊断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24E100-98A0-4779-8C8F-8E40E260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4781D-263A-4F89-B17D-F61B526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E6506D-DB72-4775-917D-152D1B4E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高频问题自助解决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23FA5-88F0-4A54-BA87-B0469B4F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减少对平台运营和广告专家的重复咨询</a:t>
            </a:r>
          </a:p>
        </p:txBody>
      </p:sp>
    </p:spTree>
    <p:extLst>
      <p:ext uri="{BB962C8B-B14F-4D97-AF65-F5344CB8AC3E}">
        <p14:creationId xmlns:p14="http://schemas.microsoft.com/office/powerpoint/2010/main" val="2130668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26BFEA-FAB5-482D-A703-67AA8035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3A4BA-1E47-4E94-946A-D7C92652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0F6A6-55F0-4CE8-8187-C4295C1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保诚保险团队智能工作台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CCFC1-EF8A-407A-B94A-442CBD68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D42EB-7A82-451E-B402-C8FD182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F465D-81A6-450D-96DA-3DC676A8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将团队社区、保险知识问答与客户计划书统一到一个小程序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B89E6-0BFD-4EA4-86E3-6D672820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073D6-8951-4875-9925-5290D621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团队经验难沉淀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4C101-9CDA-41CA-B2AF-87B7ACA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市场信息与销售资料散落在微信群和个人设备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26A7C-2511-4BCD-B6E9-A095949A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81332-A44F-46FE-8BA6-89C1DE11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保险知识查询效率低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039E2-223C-4C70-8A85-CE48C80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条款、核保规则与销售资料分散，复杂问题依赖资深顾问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F5EB3-9273-4DB9-861D-6580716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EC9C4-571B-4664-A7C3-5BC4B74F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计划书复杂，反馈不可见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CFDF7-7892-4A66-B254-84A48F3C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传统制作流程耗时，发送后无法掌握客户查看情况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111D2-AB24-4F7A-AA43-66B469A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F44BD-2884-4F5E-95FB-6B8E4534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团队社区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A0B85-35D4-48CA-8C93-0581CCC1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0DCE5-5140-4850-9D2C-E567DCC4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动态、资料与业务经验集中沉淀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成员审批、团队切换与共同管理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5D0D1-3DA1-44DB-969A-60FEEC02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A1060-BA7F-453A-9CCC-9A1976D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保险知识助手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83FBD-961F-4B20-8864-785D33C2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25D0F-CAA5-401B-BEA1-D876D94A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基于团队知识库回答产品与核保问题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 @文件 和引用溯源，可返回原文核对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C237B-04F3-4076-8F5F-DF815087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858F8-56AD-409C-8857-B1D16479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智能计划书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B73CAC-F760-4ECF-A382-B558DF2D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733B8-2B4F-4974-8D5E-2A3CFA04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基于客户参数自动生成标准计划书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微信分享并记录查看时间与查看时长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128A2-1EDE-4690-8CA5-BFEDF0A0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BAA218-5459-4205-BE35-17535702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 大模块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E3768-BF12-4568-BCD8-83662CFF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覆盖顾问核心工作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DD1B7-A71A-48B6-82C4-46721D08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团队协作、知识服务与客户计划书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E5D3E3-B931-481E-8CAF-A3FF26CB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9EB8C-E5FB-4147-A870-B01D7E11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4 类文件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9506DC-EED3-4B64-9072-6548EA6F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企业知识统一沉淀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0D1953-6BF4-40A0-A101-82AB22B1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支持 PDF、Word、Excel 与 PPT 资料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9AD17A-4E4D-45A6-BBDB-2FDB296F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FDD306-2B4C-4338-AB5D-1C5DFAA1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2 项反馈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363F12-981D-48A6-8FB2-884178DA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客户浏览进度可追踪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4818C0-3CF4-486B-9AD7-BEF4B5DB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记录查看时间与查看时长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6C1F0A-AC69-4803-A1A6-ECB7094C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341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6668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61D06D-A065-4B4D-A953-82C05E52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EC4FB-652C-4333-9B18-CE36D96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A27E2-19E4-46EF-8A6B-F1FA01EC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能够把 AI 项目真正交付到业务中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76FBA-7AE5-483E-AC17-C3003F2E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B97BD-2A23-4089-8A80-D8AAA00E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18DE7-0E69-4ED6-8817-CA4F7BF6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业务理解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0E448-1840-432E-92C4-1930F55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从企业经营目标和岗位流程出发识别真实问题。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1626A-9D98-4200-AE3A-E062CA28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11D18-5671-4711-9DB4-CE760339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端到端交付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D8A8B-422C-4169-8F39-8161FAB5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覆盖培训、方案、原型、开发、系统集成和上线。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D28B5-7FBF-4D37-B1C0-247E230E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CC2B7-106A-4D74-ACF6-683EF9D9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平台化建设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7B4BA-1D74-44EF-80BC-622DCDC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既能交付单个应用，也能统一管理多个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340E5-845D-4416-BFF9-FE43C5DD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57865-ADB8-4B3B-BDF9-00A8BE8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93BC7-1FF9-4F84-94A6-2BF048DD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用户导入、效果评测、问题复盘和版本优化持续进行。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7CBA2-ACB1-4DE3-BE01-CC280D7C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C6AEB-CC46-484D-A9E5-8FD257AE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核心团队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75B05-647E-4775-B4F9-16114F96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25F81-4534-4535-8834-68A8D8D6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00704-7231-4809-B56C-FCA35C4D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404AA-B446-43DB-B79D-734CAF6F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AD8FF-B4EC-458A-95BB-3E917D62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陈启明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B65F3C-9AAC-447F-A6E5-ABAA83A4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创始人 / 首席 AI 解决方案专家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31694-A14C-4581-8B29-A9C8DFD3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负责企业 AI 战略咨询、场景设计与项目总体方案。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148B8-F0CB-43AF-9E5A-4537C386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4BB86-7860-414A-9FD9-BEDE161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9E7C5-FF84-4B86-BF50-14EAD6AA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0A9CB-7283-4F3C-9B2D-0F7061C7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C1509D-CD18-4B61-B955-AC3796C4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林若川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4CFB3-94B6-4779-92CE-74F18D49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联合创始人 / AI 平台与工程负责人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2ADC6A-4E99-4068-B450-34690D3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 Agent 平台、知识系统、数据连接和生产交付。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DAA7C-1B94-402D-942B-19AEE47B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B5093-A5FE-4E38-8C28-65361891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AD9FFC-AC87-414F-A5D2-E9ABFD45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62DBFB-3B95-410D-8C2A-708449BC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2EDC23-D4E1-469D-833C-060D0BDA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周婧妍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47F587-A0B5-416A-B257-35574582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客户成功与 AI 赋能负责人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DC29E1-90F5-42DB-8285-6910D326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负责管理层培训、场景工作坊、上线导入和持续运营。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892211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BAA62-E303-4E00-BD17-3971720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BEDB6-C882-4D5D-81ED-5ED89D5B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合作方式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21100-F857-4744-878B-620E56CE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两种方式启动企业 AI 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72C6A-4C07-4579-AE17-3590C468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64B55-0C1F-4530-922B-0CD48D02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从认知开始，或者带着明确问题直接进入解决方案共创。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86DD2-1835-4C3D-BDC1-33B0AD3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43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73253-98CE-4780-816F-34EF41EC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DDD96-8545-43F2-97A1-B59E36B4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EF4AD-94A1-4F74-9B70-CB078409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适合尚未形成统一 AI 认知、不确定从哪里开始的企业。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F32D0-38CA-4B42-8F43-55697440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管理层培训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行业案例拆解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部门业务访谈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场景共创工作坊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80F03-9A46-43F8-9C57-A70F29CC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交付：企业 AI 机会地图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A9F6B-C068-4729-A3B2-B1374A90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524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178AF-CDC3-4B8C-B429-4B3FB07C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EC995-C6E8-4414-96A4-A8C21417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AI 解决方案设计与落地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C5B6B-7131-47EA-A7AF-7853BFA8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适合已经存在明确业务问题、希望快速验证并正式上线的企业。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BDA61-530E-42A8-BD15-1DD01492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552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业务诊断与方案设计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PoC 原型验证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系统开发与集成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上线运营与持续优化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8C0AA-C44D-4364-B443-20588341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交付：可正式运行的 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BA80F-247D-470E-AB8B-526D0A8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32462-EB68-4984-A127-D172AA04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从一次业务场景访谈开始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71415-5210-4A49-B78E-4BF4D4F5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识别值得先做的场景，明确试点边界与价值目标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F32EF-C7D9-4FC9-9EDC-3C1FFCD5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预约业务场景访谈</a:t>
            </a:r>
          </a:p>
        </p:txBody>
      </p:sp>
    </p:spTree>
    <p:extLst>
      <p:ext uri="{BB962C8B-B14F-4D97-AF65-F5344CB8AC3E}">
        <p14:creationId xmlns:p14="http://schemas.microsoft.com/office/powerpoint/2010/main" val="504829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2026-10-01T14:24:21.2770000Z</dcterms:created>
  <dcterms:modified xsi:type="dcterms:W3CDTF">2026-10-01T14:24:21.2770000Z</dcterms:modified>
</coreProperties>
</file>