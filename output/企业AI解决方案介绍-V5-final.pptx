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0ffc807eb54cd3" /><Relationship Type="http://schemas.openxmlformats.org/officeDocument/2006/relationships/extended-properties" Target="/docProps/app.xml" Id="R58a173a8cbc44a61" /><Relationship Type="http://schemas.openxmlformats.org/officeDocument/2006/relationships/officeDocument" Target="/ppt/presentation.xml" Id="R54f4aa87c5324c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f1d3f942f94c31"/>
  </p:sldMasterIdLst>
  <p:notesMasterIdLst>
    <p:notesMasterId xmlns:r="http://schemas.openxmlformats.org/officeDocument/2006/relationships" r:id="Rda5272b7b7fe4ab2"/>
  </p:notesMasterIdLst>
  <p:sldIdLst>
    <p:sldId xmlns:r="http://schemas.openxmlformats.org/officeDocument/2006/relationships" id="256" r:id="R289e6f1e0429456f"/>
    <p:sldId xmlns:r="http://schemas.openxmlformats.org/officeDocument/2006/relationships" id="257" r:id="R417f384e566a42e5"/>
    <p:sldId xmlns:r="http://schemas.openxmlformats.org/officeDocument/2006/relationships" id="258" r:id="Rc4b604895c2b44ed"/>
    <p:sldId xmlns:r="http://schemas.openxmlformats.org/officeDocument/2006/relationships" id="259" r:id="Re74459f771184b44"/>
    <p:sldId xmlns:r="http://schemas.openxmlformats.org/officeDocument/2006/relationships" id="260" r:id="R9fd795097e734f23"/>
    <p:sldId xmlns:r="http://schemas.openxmlformats.org/officeDocument/2006/relationships" id="261" r:id="Rf70d943dbbfc4005"/>
    <p:sldId xmlns:r="http://schemas.openxmlformats.org/officeDocument/2006/relationships" id="262" r:id="Re5e699208ad04906"/>
    <p:sldId xmlns:r="http://schemas.openxmlformats.org/officeDocument/2006/relationships" id="263" r:id="R08982a04e72f41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a0257236ca4970" /><Relationship Type="http://schemas.openxmlformats.org/officeDocument/2006/relationships/slideMaster" Target="/ppt/slideMasters/slideMaster1.xml" Id="Ra2f1d3f942f94c31" /><Relationship Type="http://schemas.openxmlformats.org/officeDocument/2006/relationships/notesMaster" Target="/ppt/notesMasters/notesMaster1.xml" Id="Rda5272b7b7fe4ab2" /><Relationship Type="http://schemas.openxmlformats.org/officeDocument/2006/relationships/presProps" Target="/ppt/presProps.xml" Id="Rf99dae0397854c13" /><Relationship Type="http://schemas.openxmlformats.org/officeDocument/2006/relationships/tableStyles" Target="/ppt/tableStyles.xml" Id="Rc849004923dc4e0f" /><Relationship Type="http://schemas.openxmlformats.org/officeDocument/2006/relationships/slide" Target="/ppt/slides/slide1.xml" Id="R289e6f1e0429456f" /><Relationship Type="http://schemas.openxmlformats.org/officeDocument/2006/relationships/slide" Target="/ppt/slides/slide2.xml" Id="R417f384e566a42e5" /><Relationship Type="http://schemas.openxmlformats.org/officeDocument/2006/relationships/slide" Target="/ppt/slides/slide3.xml" Id="Rc4b604895c2b44ed" /><Relationship Type="http://schemas.openxmlformats.org/officeDocument/2006/relationships/slide" Target="/ppt/slides/slide4.xml" Id="Re74459f771184b44" /><Relationship Type="http://schemas.openxmlformats.org/officeDocument/2006/relationships/slide" Target="/ppt/slides/slide5.xml" Id="R9fd795097e734f23" /><Relationship Type="http://schemas.openxmlformats.org/officeDocument/2006/relationships/slide" Target="/ppt/slides/slide6.xml" Id="Rf70d943dbbfc4005" /><Relationship Type="http://schemas.openxmlformats.org/officeDocument/2006/relationships/slide" Target="/ppt/slides/slide7.xml" Id="Re5e699208ad04906" /><Relationship Type="http://schemas.openxmlformats.org/officeDocument/2006/relationships/slide" Target="/ppt/slides/slide8.xml" Id="R08982a04e72f41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656af023f644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39b629a24e4735" /><Relationship Type="http://schemas.openxmlformats.org/officeDocument/2006/relationships/notesMaster" Target="/ppt/notesMasters/notesMaster1.xml" Id="R1eb7ad2474c14f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2a4d7143934744" /><Relationship Type="http://schemas.openxmlformats.org/officeDocument/2006/relationships/notesMaster" Target="/ppt/notesMasters/notesMaster1.xml" Id="R87d93c287a604f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1b71ee6c604791" /><Relationship Type="http://schemas.openxmlformats.org/officeDocument/2006/relationships/notesMaster" Target="/ppt/notesMasters/notesMaster1.xml" Id="R557db620497b45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97be38868c4d70" /><Relationship Type="http://schemas.openxmlformats.org/officeDocument/2006/relationships/notesMaster" Target="/ppt/notesMasters/notesMaster1.xml" Id="R7be60d9a949a43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ed60cc0e054876" /><Relationship Type="http://schemas.openxmlformats.org/officeDocument/2006/relationships/notesMaster" Target="/ppt/notesMasters/notesMaster1.xml" Id="R95854816cd1c44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747fc622df4f9d" /><Relationship Type="http://schemas.openxmlformats.org/officeDocument/2006/relationships/notesMaster" Target="/ppt/notesMasters/notesMaster1.xml" Id="Ra4ef31ba205b4a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63143eaade4628" /><Relationship Type="http://schemas.openxmlformats.org/officeDocument/2006/relationships/notesMaster" Target="/ppt/notesMasters/notesMaster1.xml" Id="R57bd7b95e1164f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cc28964328490c" /><Relationship Type="http://schemas.openxmlformats.org/officeDocument/2006/relationships/notesMaster" Target="/ppt/notesMasters/notesMaster1.xml" Id="R61dc93478a3041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c5c60614c4d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14486657994983" /><Relationship Type="http://schemas.openxmlformats.org/officeDocument/2006/relationships/slideLayout" Target="/ppt/slideLayouts/slideLayout1.xml" Id="R09ac1de0d97549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ac1de0d97549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4e6965dce4abd" /><Relationship Type="http://schemas.openxmlformats.org/officeDocument/2006/relationships/image" Target="/ppt/media/image.png" Id="Rd0b7c0871e3f4cac" /><Relationship Type="http://schemas.openxmlformats.org/officeDocument/2006/relationships/image" Target="/ppt/media/image2.png" Id="R07d821d490db42d8" /><Relationship Type="http://schemas.openxmlformats.org/officeDocument/2006/relationships/image" Target="/ppt/media/image3.png" Id="Rcb7af6e6a8e7417f" /><Relationship Type="http://schemas.openxmlformats.org/officeDocument/2006/relationships/notesSlide" Target="/ppt/notesSlides/notesSlide1.xml" Id="Rd4c7a08478ba4d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bbce9f2454125" /><Relationship Type="http://schemas.openxmlformats.org/officeDocument/2006/relationships/notesSlide" Target="/ppt/notesSlides/notesSlide2.xml" Id="Rc1758bab388a47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b7f3ac87445cc" /><Relationship Type="http://schemas.openxmlformats.org/officeDocument/2006/relationships/notesSlide" Target="/ppt/notesSlides/notesSlide3.xml" Id="R9da899b364ea43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63da7f4de4942" /><Relationship Type="http://schemas.openxmlformats.org/officeDocument/2006/relationships/image" Target="/ppt/media/image4.png" Id="Raac75103e4ab46f9" /><Relationship Type="http://schemas.openxmlformats.org/officeDocument/2006/relationships/image" Target="/ppt/media/image5.png" Id="Rb16688c7cd994aba" /><Relationship Type="http://schemas.openxmlformats.org/officeDocument/2006/relationships/image" Target="/ppt/media/image6.png" Id="R521fbc24e5994d9e" /><Relationship Type="http://schemas.openxmlformats.org/officeDocument/2006/relationships/notesSlide" Target="/ppt/notesSlides/notesSlide4.xml" Id="R27c4f9b0deea44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f88aa125e4a74" /><Relationship Type="http://schemas.openxmlformats.org/officeDocument/2006/relationships/image" Target="/ppt/media/image7.png" Id="Rcd725e7eb40042f8" /><Relationship Type="http://schemas.openxmlformats.org/officeDocument/2006/relationships/image" Target="/ppt/media/image8.png" Id="R2efdf94fe3e54ccc" /><Relationship Type="http://schemas.openxmlformats.org/officeDocument/2006/relationships/notesSlide" Target="/ppt/notesSlides/notesSlide5.xml" Id="R01a21d78f49343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f6a34be2e49e3" /><Relationship Type="http://schemas.openxmlformats.org/officeDocument/2006/relationships/notesSlide" Target="/ppt/notesSlides/notesSlide6.xml" Id="R915a42620d2445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f9047f6c74194" /><Relationship Type="http://schemas.openxmlformats.org/officeDocument/2006/relationships/notesSlide" Target="/ppt/notesSlides/notesSlide7.xml" Id="R0e713b2726234c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f03456a144d48" /><Relationship Type="http://schemas.openxmlformats.org/officeDocument/2006/relationships/notesSlide" Target="/ppt/notesSlides/notesSlide8.xml" Id="Rcdae3ee1fff448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9CA18-6F64-4068-BAD0-B1ED9696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CC408-C6CB-452F-A87D-237C8CAB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企业 AI 解决方案与落地服务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A0AAD-AA15-47FA-BFE6-D976A086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6EE1D-6092-4E93-832C-F9C810B1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5524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6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让 AI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6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真正进入业务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828E8-F06C-422B-85B0-BF5BE201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 AI 认知、场景共创到应用落地与持续运营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23BC4-4547-4DD8-A4F9-EB53E228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1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1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把业务问题做成可运行、可评测、可持续优化的 AI 应用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1A93E-8785-4BAF-8B4C-596976DA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048250" cy="5753100"/>
          </a:xfrm>
          <a:prstGeom xmlns:a="http://schemas.openxmlformats.org/drawingml/2006/main" prst="roundRect">
            <a:avLst>
              <a:gd name="adj" fmla="val 3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7c0871e3f4cac"/>
          <a:srcRect xmlns:a="http://schemas.openxmlformats.org/drawingml/2006/main" l="0" t="4985" r="0" b="49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800100"/>
            <a:ext cx="4629150" cy="1847850"/>
          </a:xfrm>
          <a:prstGeom xmlns:a="http://schemas.openxmlformats.org/drawingml/2006/main" prst="roundRect">
            <a:avLst>
              <a:gd name="adj" fmla="val 5155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821d490db42d8"/>
          <a:srcRect xmlns:a="http://schemas.openxmlformats.org/drawingml/2006/main" l="9890" t="0" r="98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2857500"/>
            <a:ext cx="2209800" cy="3162300"/>
          </a:xfrm>
          <a:prstGeom xmlns:a="http://schemas.openxmlformats.org/drawingml/2006/main" prst="roundRect">
            <a:avLst>
              <a:gd name="adj" fmla="val 4310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af6e6a8e7417f"/>
          <a:srcRect xmlns:a="http://schemas.openxmlformats.org/drawingml/2006/main" l="18663" t="0" r="186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10650" y="2857500"/>
            <a:ext cx="2209800" cy="3162300"/>
          </a:xfrm>
          <a:prstGeom xmlns:a="http://schemas.openxmlformats.org/drawingml/2006/main" prst="roundRect">
            <a:avLst>
              <a:gd name="adj" fmla="val 431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1A806-2A27-46E1-BB40-04AB2E3D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ENTERPRISE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B3B47-2448-4FF6-871D-B52CB435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389579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4E75EF-3884-47C1-A4B5-283108F4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03EDD-98B3-490D-B2B9-C7A2CB2A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企业 AI 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420D1-7BB8-45E6-B596-8E8DA086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四个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真实难题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6878C-1C35-4AB1-BE18-1ABC7C0E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2343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真正的挑战集中在业务选择、落地执行和组织协同。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8E8B2-0DAD-438A-9BFE-53B11827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4008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777E5-F6B7-4204-8B72-0EDACC45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09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企业不缺 AI，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ACC10-1A78-4A54-8699-79A756C5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1525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缺的是把 AI 变成业务结果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1D960-45E3-41D8-9116-BE1A55B1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9547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从“能演示”走到“能运行、能复制、能持续产生价值”。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C79DA-2C75-4B20-83B1-6D263CFC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860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37456-7255-48EF-B4F8-B5637C86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F44EA-32E4-4E7E-821E-478DFD9E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场景难选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00174-BF88-49CC-AC4A-A83F85AF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想法很多，但不知道哪些问题真正值得投入。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6BFA6-DDF1-4E8E-B796-C0B59C09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B7C53-E36F-4E09-91B8-D044CE0D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0005C-0758-40EB-8BA9-C96F76AA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落地难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82F49-8AD8-48A7-A6D7-70529FC2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接入真实数据、系统与权限，打通业务流程并不容易。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C25AD-9DE4-4952-940E-2B86480D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624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067FFF-CFB6-4264-8D4A-BA5FA442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33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EB3EE-ACDC-4A1E-B007-51B58678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43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规模化难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AC59C8-BD36-4124-938D-D7854883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149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一个 PoC 跑通，不代表能稳定上线和复制推广。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0F021D-C352-42D5-B564-53F7B36A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624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521189-3222-4AE7-9EC3-9A657DCE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33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56B2BD-B3DB-452F-A96B-A56DD086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43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组织变革难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450EED-386F-4E38-AC6F-134EC620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149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上线之后，岗位流程与管理机制若不同步，价值难持续。</a:t>
            </a:r>
          </a:p>
        </p:txBody>
      </p:sp>
    </p:spTree>
    <p:extLst>
      <p:ext uri="{BB962C8B-B14F-4D97-AF65-F5344CB8AC3E}">
        <p14:creationId xmlns:p14="http://schemas.microsoft.com/office/powerpoint/2010/main" val="933763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E897FC-9BE3-4E7D-AE95-F2093CC0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3400B-3697-49CB-B8A2-98390850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我们怎样开始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D6401-869B-4D28-9312-930690CE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 AI 服务与落地路径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0BC17-9F61-4C48-BC28-D09417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03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99226-381B-471C-B6BA-A73322AA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两种进入方式，汇入同一套从共识到运营的交付链路。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0B480-C984-4B96-8086-A57C7E38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9530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4AB3E-6741-4010-9515-9B1936B0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入口一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F2D27-503B-4542-B4C7-A86E7F54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认知培训与场景工作坊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4D23B-72E2-42FD-8B85-436F0C26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适合尚未形成 AI 共识、不确定从哪里开始的企业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4B99C-55E4-4A9B-B527-F999BE62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43100"/>
            <a:ext cx="57150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ECF09-EE25-494A-A648-1078324D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入口二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29062-16AF-4FBA-87ED-E7165EF6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明确业务问题直接启动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2EA5A-7141-44D9-A5C1-CBE5963E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适合已经有明确需求、希望快速验证和落地的企业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5FC58-D750-4EF7-9EB2-999314B5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973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2836B-5A1D-4F32-9503-9F80D44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CBCD9-8A9A-45E9-A6EC-CCF88704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5661E-7383-45C4-BFC1-827A1DCC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认知与诊断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3A1A7-FA69-4851-99D9-1483C481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AI共识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机会方向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06DA8-DC91-44DA-8497-3DE72BF2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33ED2-50A9-4C68-BC18-2A8C0C40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7651C-2969-459E-BC2A-64BFA9DD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场景共创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2FC743-1B44-4333-B708-A4B62E1C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场景清单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方案蓝图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4B1C1D-EC60-484E-8B07-BF5C07F0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1475C5-E87F-4617-82B8-EFDC49BF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F310F2-EE3F-4577-A734-0EFA9A49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原型验证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2BD992-3C73-405D-940E-0033E0F9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可演示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可验证原型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6333C6-0164-4A9C-975F-5FFA23F8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AEDBFA-7C1D-4353-A91E-14FC8699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51588D-29FF-44B9-9E22-E5C6F3C8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生产交付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6527A1-9BB5-427C-A05B-358A02B1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系统集成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正式上线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B05DF4-D462-466C-B443-837055AD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A1032F-37D1-476F-95FE-1123BF4C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F64C41-4A41-4394-A140-8941DF0B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运营优化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30DA35-FBCD-484A-82C9-A45ADF3B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效果评测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持续迭代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3D991C-9731-48C0-A89D-F3BE0339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B1BF87-FA18-4CA4-B912-220D7679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上线导入、使用辅导、效果评测与版本优化贯穿交付全程</a:t>
            </a:r>
          </a:p>
        </p:txBody>
      </p:sp>
    </p:spTree>
    <p:extLst>
      <p:ext uri="{BB962C8B-B14F-4D97-AF65-F5344CB8AC3E}">
        <p14:creationId xmlns:p14="http://schemas.microsoft.com/office/powerpoint/2010/main" val="685463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748D74-78FF-4C3A-83B2-CDC58488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2B65D-520C-433E-9F31-8CFFA3DF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D2379-DEDE-40E8-9080-C9CCFC36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TikTok 商业化 Agent 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39552-89B2-4ED8-B51C-DDDF912F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04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2797E-CF00-4DB5-AA6B-8B92962B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支撑商业化 Agent 快速搭建、稳定上线与持续运营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21470-D57F-4414-AE09-2DFAE060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业务挑战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3D1B1-C461-47C7-B037-FABD0B8D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BDCCE-8640-4A7D-9896-1402A33B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Agent 重复建设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F6E66-57AD-4DC3-AF02-B4F5608E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各团队独立开发，Prompt、模型与工具难以复用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4A247-982F-4207-A9E4-497EA446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C480E-1E33-41BD-9EB4-F57E7B98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版本发布难以管理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9AE0D-BDC4-4670-AD7F-F45C4C6C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配置频繁变化，测试与发布长期依赖工程协作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AE5D4-4C27-4EA6-A91B-685CBDFB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9E758-F125-4F0F-80B3-E6A474D0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应用质量缺少标准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C3E60-DB1A-4EB8-92D3-9B7D98E0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各个 Agent 各自测试，版本升级后难以对比效果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85784-3721-4366-8E7A-4E5C0A1D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4762500" cy="3219450"/>
          </a:xfrm>
          <a:prstGeom xmlns:a="http://schemas.openxmlformats.org/drawingml/2006/main" prst="roundRect">
            <a:avLst>
              <a:gd name="adj" fmla="val 41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75103e4ab46f9"/>
          <a:srcRect xmlns:a="http://schemas.openxmlformats.org/drawingml/2006/main" l="16094" t="0" r="160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962150"/>
            <a:ext cx="4457700" cy="291465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0590C-E68F-4714-AE56-89C62178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813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95D2E-F17C-4920-B4DA-AD2201B6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1847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688c7cd994aba"/>
          <a:srcRect xmlns:a="http://schemas.openxmlformats.org/drawingml/2006/main" l="0" t="6853" r="0" b="68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1905000"/>
            <a:ext cx="1657350" cy="1143000"/>
          </a:xfrm>
          <a:prstGeom xmlns:a="http://schemas.openxmlformats.org/drawingml/2006/main" prst="roundRect">
            <a:avLst>
              <a:gd name="adj" fmla="val 583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9A821-88FA-4254-8E97-293B059A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956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版本管理与发布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41BE6-2CFA-4657-91D8-4B823501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847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fbc24e5994d9e"/>
          <a:srcRect xmlns:a="http://schemas.openxmlformats.org/drawingml/2006/main" l="0" t="28933" r="0" b="28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3600450"/>
            <a:ext cx="1657350" cy="1143000"/>
          </a:xfrm>
          <a:prstGeom xmlns:a="http://schemas.openxmlformats.org/drawingml/2006/main" prst="roundRect">
            <a:avLst>
              <a:gd name="adj" fmla="val 5833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BC5A1-8D76-425D-B1D2-2B10F072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910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效果评测与优化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6E686-6806-46AD-991D-5679A556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3DA233-F7C5-431D-97EE-C37C4137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12+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D9FB23-0DE9-4BA0-B705-7F0F4C18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商业化 Agent 上线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9A732A-52CC-4C6B-8558-4C0C604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完成搭建、测试并投入真实业务使用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AC3DC3-D29A-4F89-A0AA-EF53EED2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C9C697-17C3-4A48-A9BA-FC5A645F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65%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DAF3CB-5113-4F8F-8B18-F0EB13C7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Agent 搭建周期缩短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6473C1-4B40-44ED-8647-CDEAFCA4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平均搭建周期由约 4 周缩短至 10 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60F7F3-FC7F-4028-A03A-645B1B92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94386D-19F6-4226-A48D-C4854E38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75%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6C4A40-CF47-4C5A-9F98-BFAB9DA9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版本迭代时间减少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C6BE2A-4A01-4435-B29F-66C42E6B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常规配置调整与发布由 2 天缩短至半天</a:t>
            </a:r>
          </a:p>
        </p:txBody>
      </p:sp>
    </p:spTree>
    <p:extLst>
      <p:ext uri="{BB962C8B-B14F-4D97-AF65-F5344CB8AC3E}">
        <p14:creationId xmlns:p14="http://schemas.microsoft.com/office/powerpoint/2010/main" val="10338859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FC6143-B92E-402B-A53C-4ABF0DF3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24C48-40AB-407F-8A56-B2FB040B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A2E55-E5D3-4197-B2DA-8872A14C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TikTok Shop 广告诊断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118A6-9280-4997-AADE-C6B0E03F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05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F4EED-AFC5-4FFE-A459-0FC7CD82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汇总大量投放诊断数据，帮助广告主快速定位问题并完成优化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C9A9A-EED0-4157-85EA-1C3BBB34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业务挑战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00911-5A96-41D3-BAE5-4C6161AD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9A8BE-C9C6-4C42-989B-0D519B1D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诊断链路复杂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ADF3F-72B7-4399-AFAD-C9DD4EC9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需要跨店铺、商品、Campaign和数据报表反复排查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B904F-5738-4D10-AD14-A4AEC9C1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DE5F5-40D0-42C1-8EE9-532DDBB9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投放问题难以归因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3C688-BC1B-46BA-BE2D-CA455A1E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预算、商品、库存、转化率和广告设置相互影响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97C68-41BF-4480-9804-8F1B54C9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BA772-EFB0-45B7-9B9E-4175006A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专家服务难以规模化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E1516-F52F-445A-92AD-FFA92EFE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复杂问题依赖平台运营和广告专家人工分析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8D978-5A5C-4AE9-916D-14DE1796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714375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25e7eb40042f8"/>
          <a:stretch xmlns:a="http://schemas.openxmlformats.org/drawingml/2006/main"/>
        </p:blipFill>
        <p:spPr>
          <a:xfrm xmlns:a="http://schemas.openxmlformats.org/drawingml/2006/main">
            <a:off x="4618844" y="1962150"/>
            <a:ext cx="2306613" cy="264795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df94fe3e54ccc"/>
          <a:srcRect xmlns:a="http://schemas.openxmlformats.org/drawingml/2006/main" l="0" t="23093" r="0" b="230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962150"/>
            <a:ext cx="4286250" cy="2647950"/>
          </a:xfrm>
          <a:prstGeom xmlns:a="http://schemas.openxmlformats.org/drawingml/2006/main" prst="roundRect">
            <a:avLst>
              <a:gd name="adj" fmla="val 323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3BC36-2AF6-447B-A483-C5370680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09347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BF64D-0C9B-44CC-8AF0-648FB5BF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062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账户数据    广告计划    预算    商品    库存    流量    订单    转化率    ROI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CB625-7C88-4F8D-9D35-E6D85E7D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108A7-07FE-41E8-B027-3FD85666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30+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7E12F4-2942-408A-B745-9574F24F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投放诊断指标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CE999-0EBD-444A-84B8-1C59B055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综合分析账户、广告、商品与转化数据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14D540-E9D8-4B16-AE79-B82AE4D3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19D292-CE10-473F-83A1-601DC04B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&lt;3 分钟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A44427-0057-40D2-8D61-CE1EBE25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完成初步问题诊断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289C60-3059-4768-904C-8090CBC3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从跨页面排查收敛为一次对话式诊断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3766EA-CBA2-4ABC-9358-765A7B52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6FE17D-240A-4736-B2C3-806FD0A2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60%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52AC65-A563-4391-AA68-DC2D5B32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高频问题自助解决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8A748C-34D3-454C-B4A4-D8938E2B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减少对平台运营和广告专家的重复咨询</a:t>
            </a:r>
          </a:p>
        </p:txBody>
      </p:sp>
    </p:spTree>
    <p:extLst>
      <p:ext uri="{BB962C8B-B14F-4D97-AF65-F5344CB8AC3E}">
        <p14:creationId xmlns:p14="http://schemas.microsoft.com/office/powerpoint/2010/main" val="15940008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F515AE-CAE0-452B-ADE7-E0BAE503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DF15B-9EF8-40C5-9FE4-D359C407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E3604-6ECA-40A0-BF52-6B62E9F3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保诚保险团队智能工作台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5D648-8741-4432-B8F3-04F654B1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06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94C61-EC56-4B24-8E01-44E6384E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将团队社区、保险知识问答与客户计划书统一到一个小程序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38F7B-C978-4E67-8D15-0D439402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EBF2B-AB52-4822-8914-982F2E2C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团队经验难沉淀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F2523-8ADA-4678-8DE7-0832F442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市场信息与销售资料散落在微信群和个人设备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31ED6-F7B5-43D5-B571-F989ED02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8484F-7207-43D6-94B5-5B134CC0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保险知识查询效率低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4EB01-1835-4B71-B10C-539E70EB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条款、核保规则与销售资料分散，复杂问题依赖资深顾问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CDA6A-32B7-4E57-9AA1-348AA922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FB69B-5D36-4257-84A7-15D98BF5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计划书复杂，反馈不可见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65843-68C4-4CFE-8C96-7A5A4537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传统制作流程耗时，发送后无法掌握客户查看情况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FF173-48CF-4F90-8D2B-D3E02030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D8B77-DEEF-427A-956A-D7A0CBA4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团队社区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C4E8E-767F-48F2-AEED-FA8A6DE0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CA3FD-9F3C-4798-A62F-56D29A76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动态、资料与业务经验集中沉淀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成员审批、团队切换与共同管理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F965F-62A6-4FFD-BC72-D2FE7FB3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A359B7-92FB-450A-AAAD-1DA5847F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保险知识助手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F0EEF-3201-4665-BC2F-A7FA4865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7B99B-C3CB-4BFC-9118-28C9030D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基于团队知识库回答产品与核保问题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支持 @文件 和引用溯源，可返回原文核对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A001EF-BA29-4B1D-A563-EC2AF679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34A788-9B33-450E-8E27-9E1B3DC8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智能计划书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0E7309-6B57-4322-8A43-DE93D7D2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ABBBA7-09A2-4325-B378-2EAE1B26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基于客户参数自动生成标准计划书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微信分享并记录查看时间与查看时长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D084CB-3510-4C39-9AEB-FB294C39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37050-187A-49D8-AC34-0CC8815D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3 大模块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C29653-D033-4663-868F-477D06B6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覆盖顾问核心工作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A056FE-0276-4307-9A26-F3459BD1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团队协作、知识服务与客户计划书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164B8F-85D3-4F6E-A690-4543D212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39B657-076F-4248-82CB-0DADEFBD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4 类文件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892B42-C857-4A84-A0C8-E7A7639D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企业知识统一沉淀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9B6EBD-1D9A-4765-BE55-987F10A7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支持 PDF、Word、Excel 与 PPT 资料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429939-8DDE-4466-BA33-89EBF079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8E7C2B-350C-4DC9-A714-6DADD5FF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2 项反馈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0C72C1-5B44-474A-9619-3897D564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客户浏览进度可追踪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BAB6F6-CB13-4D77-95E8-C8118AD2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记录查看时间与查看时长</a:t>
            </a:r>
          </a:p>
        </p:txBody>
      </p:sp>
    </p:spTree>
    <p:extLst>
      <p:ext uri="{BB962C8B-B14F-4D97-AF65-F5344CB8AC3E}">
        <p14:creationId xmlns:p14="http://schemas.microsoft.com/office/powerpoint/2010/main" val="13311440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22D025-8262-4893-885E-21CB5D0D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FCBC7-95AB-48AE-9818-DD8CE794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为什么选择我们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8A01C-8556-4CF1-86EA-22DF5512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能够把 AI 项目真正交付到业务中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2D280-D851-42D1-A906-09A1AB2B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07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7C3E0-BA97-4EF4-BFA0-1678CE52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8F2E4-2A14-486F-9E6B-193E94B5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业务理解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BFB8D-E9E5-4724-9394-9A81E34A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从企业经营目标和岗位流程出发识别真实问题。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B9A96-639D-4656-95EE-0E94D383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2A5F3-8450-4FA6-B457-AEB7A4A1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端到端交付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F5F62-3F11-4786-AC7E-9C7A41DC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覆盖培训、方案、原型、开发、系统集成和上线。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81922-FE9D-42C5-A08F-8AAFC5E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C4EC7-DCB2-49C3-A1F9-34D0D65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平台化建设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2C6AC-785D-4B74-8EB3-B462116E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既能交付单个应用，也能统一管理多个 Agent。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EFBA7-0468-457E-9068-A10E3F72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5F271-4173-4426-8F96-75AC3741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持续运营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B81E3-23EE-485F-B027-F1E7F85C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用户导入、效果评测、问题复盘和版本优化持续进行。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1B05D-F8CA-4F20-BF96-EC6EC8E2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6A0F6-B849-43D4-8950-7719A767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核心团队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8C0D1-29CF-43DC-B9AE-7E8D8FDD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D19DFC-ED03-4A28-B332-84DA7B16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2ED070-46DB-4BE7-93CE-BFA679E7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DA16B1-7EBB-4E5B-9FFF-97A35B6E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E23BE4-6D09-4993-8DBB-5DF7165E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陈启明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6F2464-3DC0-446C-9760-10EFE8A6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创始人 / 首席 AI 解决方案专家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9B42FB-80C7-456A-AF84-CBCE1B05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负责企业 AI 战略咨询、场景设计与项目总体方案。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EA7ACC-09C6-48DD-82A9-ABCF7546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D48216-20A0-484D-943C-D24695A4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AEF57A-96EB-4680-9DCA-90133326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EDFCC8-B1F5-4E99-8172-B62BC011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427507-43EE-479B-A71B-5AA794D1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林若川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48EBE2-C4C5-4E14-ABA9-11AC565D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联合创始人 / AI 平台与工程负责人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D3907F-14BE-4DFF-BE68-0D679605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 Agent 平台、知识系统、数据连接和生产交付。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5E16B7-490E-4C31-A76C-2161B984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A4BB82-DE6F-4BFB-81BA-EE8A93B6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1CAF83-650C-40DC-9ECF-25A1D579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6D8C52-3972-4799-8274-CACB064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474ACB-C825-488F-8257-281CA2D3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周婧妍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F40028-7929-4766-8C09-B968B09F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客户成功与 AI 赋能负责人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852EE1-8A7A-452C-92B2-0150737A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负责管理层培训、场景工作坊、上线导入和持续运营。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7117989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D50FF9-DC57-4EC7-BE1D-9C6C9658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AD203-087E-495A-BDBD-501E6E43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合作方式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89944-F10F-4DFE-B08B-C99BE8B3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895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两种方式启动企业 AI 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C1D09-E745-4B04-893D-0D9BDA27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08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DFF91-080B-43AE-AF9B-FD20DDC0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从认知开始，或者带着明确问题直接进入解决方案共创。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B1314-7ADE-463F-B365-E4C15967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51435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585D0-F174-4DE5-8504-8F0609ED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13058-80CA-4B02-948F-ABA313EE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认知培训与场景工作坊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482F6-7F51-4DC5-891B-37C1E991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适合尚未形成统一 AI 认知、不确定从哪里开始的企业。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B480C-B966-4847-AAD8-9731FC25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管理层培训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行业案例拆解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部门业务访谈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场景共创工作坊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76ECA-794A-4FE3-8649-4661DE35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767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交付：企业 AI 机会地图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6EB0F-9466-4F07-A1C1-6BA2B5CA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24050"/>
            <a:ext cx="55245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F7BF2-A20C-46C7-9830-4909A166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99144-C394-4090-B0E9-E6E0A787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AI 解决方案设计与落地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BECBD-6E64-4678-BF45-088A4CA5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适合已经存在明确业务问题、希望快速验证并正式上线的企业。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B6C52-1C1A-4B59-AA17-FAFCEE7E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0025"/>
            <a:ext cx="2552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业务诊断与方案设计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PoC 原型验证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系统开发与集成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上线运营与持续优化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CB5DA-EADD-48E0-8047-FCFD47EE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76725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交付：可正式运行的 AI 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EB3E8-8486-4D2F-A7A4-480F9A40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9347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1DFB5A-6398-426E-BF7C-AA6469EF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从一次业务场景访谈开始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E8341-8AE1-4A5D-B611-DF9B8499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识别值得先做的场景，明确试点边界与价值目标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23D36-DCB0-4A25-8395-4B076E55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388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预约业务场景访谈</a:t>
            </a:r>
          </a:p>
        </p:txBody>
      </p:sp>
    </p:spTree>
    <p:extLst>
      <p:ext uri="{BB962C8B-B14F-4D97-AF65-F5344CB8AC3E}">
        <p14:creationId xmlns:p14="http://schemas.microsoft.com/office/powerpoint/2010/main" val="1070399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2026-10-01T14:27:51.3800000Z</dcterms:created>
  <dcterms:modified xsi:type="dcterms:W3CDTF">2026-10-01T14:27:51.3800000Z</dcterms:modified>
</coreProperties>
</file>