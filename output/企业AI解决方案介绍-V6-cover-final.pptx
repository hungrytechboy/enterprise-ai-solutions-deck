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0aec251ee34d88" /><Relationship Type="http://schemas.openxmlformats.org/officeDocument/2006/relationships/extended-properties" Target="/docProps/app.xml" Id="Rdcd19d907197418d" /><Relationship Type="http://schemas.openxmlformats.org/officeDocument/2006/relationships/officeDocument" Target="/ppt/presentation.xml" Id="R7e87bff22c6e41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530ba3909e4778"/>
  </p:sldMasterIdLst>
  <p:notesMasterIdLst>
    <p:notesMasterId xmlns:r="http://schemas.openxmlformats.org/officeDocument/2006/relationships" r:id="R1ee3a8986290491a"/>
  </p:notesMasterIdLst>
  <p:sldIdLst>
    <p:sldId xmlns:r="http://schemas.openxmlformats.org/officeDocument/2006/relationships" id="256" r:id="Rf2ffdae1a7f048ad"/>
    <p:sldId xmlns:r="http://schemas.openxmlformats.org/officeDocument/2006/relationships" id="257" r:id="Rd0d4090964e246ae"/>
    <p:sldId xmlns:r="http://schemas.openxmlformats.org/officeDocument/2006/relationships" id="258" r:id="R2e4740ddd27e452a"/>
    <p:sldId xmlns:r="http://schemas.openxmlformats.org/officeDocument/2006/relationships" id="259" r:id="R62636f7712f74fb1"/>
    <p:sldId xmlns:r="http://schemas.openxmlformats.org/officeDocument/2006/relationships" id="260" r:id="R1d15aa1c164f4424"/>
    <p:sldId xmlns:r="http://schemas.openxmlformats.org/officeDocument/2006/relationships" id="261" r:id="Rd90c9474306243b6"/>
    <p:sldId xmlns:r="http://schemas.openxmlformats.org/officeDocument/2006/relationships" id="262" r:id="R3f8f0dec1cba4293"/>
    <p:sldId xmlns:r="http://schemas.openxmlformats.org/officeDocument/2006/relationships" id="263" r:id="R620ae7c1586f4b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f218b44a5649e6" /><Relationship Type="http://schemas.openxmlformats.org/officeDocument/2006/relationships/slideMaster" Target="/ppt/slideMasters/slideMaster1.xml" Id="R71530ba3909e4778" /><Relationship Type="http://schemas.openxmlformats.org/officeDocument/2006/relationships/notesMaster" Target="/ppt/notesMasters/notesMaster1.xml" Id="R1ee3a8986290491a" /><Relationship Type="http://schemas.openxmlformats.org/officeDocument/2006/relationships/presProps" Target="/ppt/presProps.xml" Id="R0f45a93e06e044d4" /><Relationship Type="http://schemas.openxmlformats.org/officeDocument/2006/relationships/tableStyles" Target="/ppt/tableStyles.xml" Id="R4e2bac86a4ed4ac1" /><Relationship Type="http://schemas.openxmlformats.org/officeDocument/2006/relationships/slide" Target="/ppt/slides/slide1.xml" Id="Rf2ffdae1a7f048ad" /><Relationship Type="http://schemas.openxmlformats.org/officeDocument/2006/relationships/slide" Target="/ppt/slides/slide2.xml" Id="Rd0d4090964e246ae" /><Relationship Type="http://schemas.openxmlformats.org/officeDocument/2006/relationships/slide" Target="/ppt/slides/slide3.xml" Id="R2e4740ddd27e452a" /><Relationship Type="http://schemas.openxmlformats.org/officeDocument/2006/relationships/slide" Target="/ppt/slides/slide4.xml" Id="R62636f7712f74fb1" /><Relationship Type="http://schemas.openxmlformats.org/officeDocument/2006/relationships/slide" Target="/ppt/slides/slide5.xml" Id="R1d15aa1c164f4424" /><Relationship Type="http://schemas.openxmlformats.org/officeDocument/2006/relationships/slide" Target="/ppt/slides/slide6.xml" Id="Rd90c9474306243b6" /><Relationship Type="http://schemas.openxmlformats.org/officeDocument/2006/relationships/slide" Target="/ppt/slides/slide7.xml" Id="R3f8f0dec1cba4293" /><Relationship Type="http://schemas.openxmlformats.org/officeDocument/2006/relationships/slide" Target="/ppt/slides/slide8.xml" Id="R620ae7c1586f4b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c7aa8db25b4e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59cd1364e74c8d" /><Relationship Type="http://schemas.openxmlformats.org/officeDocument/2006/relationships/notesMaster" Target="/ppt/notesMasters/notesMaster1.xml" Id="Rd7d01e66fa9740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29dc3c8d804621" /><Relationship Type="http://schemas.openxmlformats.org/officeDocument/2006/relationships/notesMaster" Target="/ppt/notesMasters/notesMaster1.xml" Id="R3e8d4eec63b043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49359301ba42a0" /><Relationship Type="http://schemas.openxmlformats.org/officeDocument/2006/relationships/notesMaster" Target="/ppt/notesMasters/notesMaster1.xml" Id="R62052e1edfa34a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f0383e0c8b4c52" /><Relationship Type="http://schemas.openxmlformats.org/officeDocument/2006/relationships/notesMaster" Target="/ppt/notesMasters/notesMaster1.xml" Id="R56cadfc3b83241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90d816ac5f4be4" /><Relationship Type="http://schemas.openxmlformats.org/officeDocument/2006/relationships/notesMaster" Target="/ppt/notesMasters/notesMaster1.xml" Id="R2b8c9a4daee645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29a91c00c04dd2" /><Relationship Type="http://schemas.openxmlformats.org/officeDocument/2006/relationships/notesMaster" Target="/ppt/notesMasters/notesMaster1.xml" Id="Rb28281f9393146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3343375be64d63" /><Relationship Type="http://schemas.openxmlformats.org/officeDocument/2006/relationships/notesMaster" Target="/ppt/notesMasters/notesMaster1.xml" Id="R4182143afab848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7cf80dd5c14840" /><Relationship Type="http://schemas.openxmlformats.org/officeDocument/2006/relationships/notesMaster" Target="/ppt/notesMasters/notesMaster1.xml" Id="R44b92da2e8464f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141eb8ee4246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07db1b5bc447ae" /><Relationship Type="http://schemas.openxmlformats.org/officeDocument/2006/relationships/slideLayout" Target="/ppt/slideLayouts/slideLayout1.xml" Id="Ra744cbee3ce04f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44cbee3ce04f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eff52dddc4cbe" /><Relationship Type="http://schemas.openxmlformats.org/officeDocument/2006/relationships/image" Target="/ppt/media/image.png" Id="Rdd8526170a4649a2" /><Relationship Type="http://schemas.openxmlformats.org/officeDocument/2006/relationships/notesSlide" Target="/ppt/notesSlides/notesSlide1.xml" Id="R4c8277bf97d044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b91316a724ff3" /><Relationship Type="http://schemas.openxmlformats.org/officeDocument/2006/relationships/notesSlide" Target="/ppt/notesSlides/notesSlide2.xml" Id="R8ca4586289ac45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0dc5393c446a0" /><Relationship Type="http://schemas.openxmlformats.org/officeDocument/2006/relationships/notesSlide" Target="/ppt/notesSlides/notesSlide3.xml" Id="Rb6c99325dd9347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b0ab0f8984491" /><Relationship Type="http://schemas.openxmlformats.org/officeDocument/2006/relationships/image" Target="/ppt/media/image2.png" Id="Rc73c0f3705194b4a" /><Relationship Type="http://schemas.openxmlformats.org/officeDocument/2006/relationships/image" Target="/ppt/media/image3.png" Id="R5ad29a1d07d74935" /><Relationship Type="http://schemas.openxmlformats.org/officeDocument/2006/relationships/image" Target="/ppt/media/image4.png" Id="R51e0af81cc7c47b7" /><Relationship Type="http://schemas.openxmlformats.org/officeDocument/2006/relationships/notesSlide" Target="/ppt/notesSlides/notesSlide4.xml" Id="Rb2efd22b44aa41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7571b2a3b4208" /><Relationship Type="http://schemas.openxmlformats.org/officeDocument/2006/relationships/image" Target="/ppt/media/image5.png" Id="R335e4982f12d4826" /><Relationship Type="http://schemas.openxmlformats.org/officeDocument/2006/relationships/image" Target="/ppt/media/image6.png" Id="R6ed6fa21784f47e5" /><Relationship Type="http://schemas.openxmlformats.org/officeDocument/2006/relationships/notesSlide" Target="/ppt/notesSlides/notesSlide5.xml" Id="Rc84461515b3040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577c4222c4b99" /><Relationship Type="http://schemas.openxmlformats.org/officeDocument/2006/relationships/notesSlide" Target="/ppt/notesSlides/notesSlide6.xml" Id="R32f5cae530e541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25f7e99e64c19" /><Relationship Type="http://schemas.openxmlformats.org/officeDocument/2006/relationships/notesSlide" Target="/ppt/notesSlides/notesSlide7.xml" Id="Rab3651ed0bab4e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fab980fb34365" /><Relationship Type="http://schemas.openxmlformats.org/officeDocument/2006/relationships/notesSlide" Target="/ppt/notesSlides/notesSlide8.xml" Id="R4ae9c4b2098541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A5BD8C-3997-4AB8-824F-DAFF8770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5FBFA-9F93-43B5-B769-BBB82D05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6172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10BBD-A19F-422E-99C4-65357BBB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公司介绍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2E00A-445F-4C1F-99FB-A66D52BB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63" b="1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1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COMPANY PROFILE ·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53642-9EFC-428E-B665-7C20D141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47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 AI 解决方案与落地服务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948B3-F2FB-4B77-A9F1-36EC82B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让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5E7DA-E236-4132-BAC4-E4B10102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5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真正进入业务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A6317-B339-4BB6-89A9-785571A9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561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57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 AI 认知培训、场景共创，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7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到应用落地与持续运营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4ABAE-2056-44EA-859C-3372FADE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5867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8074D-1A72-47EE-9377-608AFB99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认知共识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C0686-B2CE-4508-9DAD-6F7C27C3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24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场景共创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1FE90F-FEFF-48E4-8999-1B2011D2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524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应用落地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1179EA-931A-47C3-9042-73347A7E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524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持续运营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60677-AD15-4178-96A0-7519C8A0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88" b="1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88" b="1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ENTERPRISE AI SOLUTIONS &amp; DELIVERY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DE2FD5-9006-4203-BE56-10643315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28650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8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8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01 / 08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526170a4649a2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266700"/>
            <a:ext cx="4762500" cy="5953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7561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C61183-4169-47B4-BDBC-06ADC34B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9400E-B47C-4FFF-B9B9-E3E0FB26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企业 AI 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6AC27-F3F9-4B2E-8876-BF27E3A3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四个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真实难题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8BEF8-3012-45B1-B52C-85BF2889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2343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真正的挑战集中在业务选择、落地执行和组织协同。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E7D88-4CA4-446B-A1F6-2281B5F0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4008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1C715-3654-47CE-B02B-B3B5E283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096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企业不缺 AI，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A00A3-9D7E-4EA2-99B0-2F4AEB43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1525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缺的是把 AI 变成业务结果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8DA60-4084-4A5B-AA8B-4407773A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95475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从“能演示”走到“能运行、能复制、能持续产生价值”。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5D7C2-6F59-4579-80F1-9F377D92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860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AC3F9-8777-4998-B73B-B2A22DAA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B8E3B-2466-41A4-9373-84A180FA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670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场景难选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33FF0-D8B5-4C61-B5B6-D3504289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385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想法很多，但不知道哪些问题真正值得投入。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30A04A-B782-4945-B0E5-61FD1BBD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7E74C-389B-4337-A9F0-FFB9BD29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25DD1F-8923-4401-8F83-35AE84ED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670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落地难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C7C11F-49FA-4550-A1C8-4D948544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接入真实数据、系统与权限，打通业务流程并不容易。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3F76D-D35C-4D14-9558-54B21679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624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180047-F2C6-4BE8-B5E6-DCB7F621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339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122CAF-507E-452F-B770-4162F163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43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规模化难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0BB0EC-DC3A-4757-B716-FDE4229F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149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一个 PoC 跑通，不代表能稳定上线和复制推广。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F2BC30-129A-4D68-B59D-8FCF1295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624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2D490E-EB6C-43D3-9BB3-D886901E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339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31D963-1122-4D47-AC0E-F6D53901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43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组织变革难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DE2C0E-A1F8-4D73-8EC9-6A52FE1B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149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上线之后，岗位流程与管理机制若不同步，价值难持续。</a:t>
            </a:r>
          </a:p>
        </p:txBody>
      </p:sp>
    </p:spTree>
    <p:extLst>
      <p:ext uri="{BB962C8B-B14F-4D97-AF65-F5344CB8AC3E}">
        <p14:creationId xmlns:p14="http://schemas.microsoft.com/office/powerpoint/2010/main" val="20129136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C74DC1-54F3-486F-A999-41E2F9CC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5DF03-497B-496D-87EA-C4F359AE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我们怎样开始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03923-2843-4DD8-B76B-5AF6EC49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 AI 服务与落地路径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BAF52-7224-4754-9406-D9257362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03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0CB37-ADD8-4D49-8679-CD6AB8B6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478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两种进入方式，汇入同一套从共识到运营的交付链路。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A395D-49BD-4C63-9E18-33E4C611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49530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F51D3-0EC3-44C0-8DA9-691DBF66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入口一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AF4EB-454D-4B9E-A11E-4F0236AF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 认知培训与场景工作坊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7E867-1AFD-47BB-A667-716347E9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适合尚未形成 AI 共识、不确定从哪里开始的企业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015DA-0841-413E-8E45-5AEBDFEA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43100"/>
            <a:ext cx="57150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E563D-4F19-49E8-93A6-C18755C6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入口二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80A86-79FD-4296-8555-AD4C69B9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明确业务问题直接启动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368DD-6BCB-46F7-9417-59D4A451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适合已经有明确需求、希望快速验证和落地的企业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D9B896-94DF-4332-A6F2-E382365C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38600"/>
            <a:ext cx="973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BE6F75-36AF-4D6A-AAE6-36B0658F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4DA58D-6594-4954-8A5B-6ED0F85F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F577E-B7B3-4683-A833-4435996F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认知与诊断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0FDC00-C3B5-4BAF-A22E-07491928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AI共识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机会方向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EC7DB4-51F0-4D82-8AC5-EF5418D4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CE2226-04AE-4841-81DF-AA886456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88461A-31DA-434B-BE74-C54CF97B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场景共创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D42768-D284-48DC-81C9-0AD0FC1C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场景清单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方案蓝图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29FA8D-C815-4FBB-BD4F-32A049C5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9521D8-AE8A-44BC-A45E-7581B4BA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CFB961-8107-40B2-834A-5EC3BD15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原型验证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9518EC-7888-4F84-A831-513FAFB0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可演示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可验证原型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1CABCF-7CC5-4BE5-82E8-0035F9CE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B114FB-8B2A-4D41-AE8E-E5782732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74111B-0CCB-44F0-8A85-6B37B07C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生产交付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538CA1-9105-4770-A61E-0E2F7209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系统集成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正式上线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887FB1-4983-44EF-9BCE-22F8181C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9BBF27-34A8-4BE3-85DA-0432A233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F575FE-BC41-4987-AF93-A3AA0ED8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运营优化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7BAF37-5056-4572-B0FC-8684AEC4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7720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效果评测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持续迭代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7237BE-BC69-42CC-B26D-16D61245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934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DED1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121443-EAB8-4078-8314-E43FE53E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8167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上线导入、使用辅导、效果评测与版本优化贯穿交付全程</a:t>
            </a:r>
          </a:p>
        </p:txBody>
      </p:sp>
    </p:spTree>
    <p:extLst>
      <p:ext uri="{BB962C8B-B14F-4D97-AF65-F5344CB8AC3E}">
        <p14:creationId xmlns:p14="http://schemas.microsoft.com/office/powerpoint/2010/main" val="105190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6A34D1-70AF-46D8-8934-8BAA010F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5F430-5FEE-49C5-8BBA-7AF03204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案例一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EA0A8-044C-40EA-9170-A0BF5EFB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TikTok 商业化 Agent 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ABB30-FF1E-4230-BD3E-8B0D334C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04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B4C12-2949-4441-981B-356689C3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支撑商业化 Agent 快速搭建、稳定上线与持续运营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EBA1E-492A-454D-BCFB-CA291A3C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业务挑战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E2B3C-C912-473A-88FF-9CB27311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B14DC-5BE9-4124-B0F0-DC7A998D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Agent 重复建设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00966-DA9A-4FDE-8806-4E05C025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各团队独立开发，Prompt、模型与工具难以复用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21E9D-7E26-41A2-99DF-E1A06E5D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6AF8B-A15E-4FF7-ADF8-0456EBF4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版本发布难以管理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7372C-970F-4F6D-9E68-A5153694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配置频繁变化，测试与发布长期依赖工程协作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8BCCB4-55E8-45B5-931A-594A29F5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2445AB-11BA-48E2-9A53-6DD8621F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应用质量缺少标准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9831A-4604-472C-9EE5-54FBF096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各个 Agent 各自测试，版本升级后难以对比效果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933ED-D239-4BA7-A51B-E86AF0FA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09750"/>
            <a:ext cx="4762500" cy="3219450"/>
          </a:xfrm>
          <a:prstGeom xmlns:a="http://schemas.openxmlformats.org/drawingml/2006/main" prst="roundRect">
            <a:avLst>
              <a:gd name="adj" fmla="val 41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c0f3705194b4a"/>
          <a:srcRect xmlns:a="http://schemas.openxmlformats.org/drawingml/2006/main" l="16094" t="0" r="160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1962150"/>
            <a:ext cx="4457700" cy="291465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08E92A-C417-4CCF-AE4F-B1021069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813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8153B-5009-4110-88DB-8703F12D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09750"/>
            <a:ext cx="18478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29a1d07d74935"/>
          <a:srcRect xmlns:a="http://schemas.openxmlformats.org/drawingml/2006/main" l="0" t="6853" r="0" b="68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0750" y="1905000"/>
            <a:ext cx="1657350" cy="1143000"/>
          </a:xfrm>
          <a:prstGeom xmlns:a="http://schemas.openxmlformats.org/drawingml/2006/main" prst="roundRect">
            <a:avLst>
              <a:gd name="adj" fmla="val 5833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13D1BB-64D3-47C5-A9C4-A391EBDE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956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版本管理与发布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679430-6017-472D-A74C-2F1116AD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05200"/>
            <a:ext cx="18478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0af81cc7c47b7"/>
          <a:srcRect xmlns:a="http://schemas.openxmlformats.org/drawingml/2006/main" l="0" t="28933" r="0" b="289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0750" y="3600450"/>
            <a:ext cx="1657350" cy="1143000"/>
          </a:xfrm>
          <a:prstGeom xmlns:a="http://schemas.openxmlformats.org/drawingml/2006/main" prst="roundRect">
            <a:avLst>
              <a:gd name="adj" fmla="val 5833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D8AEFC-B2FB-4968-9E65-B460075A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910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效果评测与优化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737C40-8AE9-4758-A993-71C7395E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054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8F9F26-16CC-4E6F-9C43-53B9D57C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12+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6A4DE0-0B1D-498A-81F4-B4246C71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商业化 Agent 上线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8FE052-0EDD-49A6-A088-72BEE232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81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完成搭建、测试并投入真实业务使用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D7B466-ADBB-42AA-8CF2-1EAF7E8F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3054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4AF848-CB47-46AB-A725-081AA636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65%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CB8EEB-1C35-40FC-B014-B67BEA01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905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Agent 搭建周期缩短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FFAA6E-4A0E-4A57-9AE3-E16D4CC0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181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平均搭建周期由约 4 周缩短至 10 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3B955E-D3D0-47A0-9461-49666732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399BB9-586F-4326-8F6B-69B86FBB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75%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449C69-CF8F-4DB7-A07D-F9B73B3E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版本迭代时间减少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645FEC-7C49-4CD5-9905-43421683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181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常规配置调整与发布由 2 天缩短至半天</a:t>
            </a:r>
          </a:p>
        </p:txBody>
      </p:sp>
    </p:spTree>
    <p:extLst>
      <p:ext uri="{BB962C8B-B14F-4D97-AF65-F5344CB8AC3E}">
        <p14:creationId xmlns:p14="http://schemas.microsoft.com/office/powerpoint/2010/main" val="19275425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556516-D1F0-4858-A274-76F42052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2012B-EC5D-4DEF-BDB8-15354016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案例二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BE09C-456F-4D33-B972-9EE54A6F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TikTok Shop 广告诊断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838B8-8462-49C6-8A14-C646BE88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05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A8571-7E47-457F-AE24-88B4963B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汇总大量投放诊断数据，帮助广告主快速定位问题并完成优化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75721-557F-4E5B-9EB3-1F9505BF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业务挑战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44EE21-5373-4184-9E26-6D051BCA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947EA-F75D-46CD-BAB0-B40F4602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诊断链路复杂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3CD4B-B6B5-4069-AF0B-E2857990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需要跨店铺、商品、Campaign和数据报表反复排查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C6A0E-06C4-40FC-AEE6-648C5720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30B048-4399-4151-9BEA-EA4D0DFA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投放问题难以归因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483D5-B68C-4080-A0E2-7280010D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预算、商品、库存、转化率和广告设置相互影响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EBA4E-E529-48F6-96E2-7DAC237E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799CD-92E2-411B-9A59-347EFB72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专家服务难以规模化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1E0FD-942E-403F-8533-4A70BD03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复杂问题依赖平台运营和广告专家人工分析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975E25-B995-4586-A555-0828B01C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714375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e4982f12d4826"/>
          <a:stretch xmlns:a="http://schemas.openxmlformats.org/drawingml/2006/main"/>
        </p:blipFill>
        <p:spPr>
          <a:xfrm xmlns:a="http://schemas.openxmlformats.org/drawingml/2006/main">
            <a:off x="4618844" y="1962150"/>
            <a:ext cx="2306613" cy="2647950"/>
          </a:xfrm>
          <a:prstGeom xmlns:a="http://schemas.openxmlformats.org/drawingml/2006/main" prst="roundRect">
            <a:avLst>
              <a:gd name="adj" fmla="val 3571"/>
            </a:avLst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6fa21784f47e5"/>
          <a:srcRect xmlns:a="http://schemas.openxmlformats.org/drawingml/2006/main" l="0" t="23093" r="0" b="230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1962150"/>
            <a:ext cx="4286250" cy="2647950"/>
          </a:xfrm>
          <a:prstGeom xmlns:a="http://schemas.openxmlformats.org/drawingml/2006/main" prst="roundRect">
            <a:avLst>
              <a:gd name="adj" fmla="val 3237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6BC348-ABA2-4CF4-A709-07F75128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109347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9DED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E9E865-B175-478E-A872-B6ABD3C6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10629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账户数据    广告计划    预算    商品    库存    流量    订单    转化率    ROI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05F589-767B-4095-87A4-4E33AC5D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E6990E-BE22-4DA8-BFAA-3FA4AE22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30+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4C4B6F-5FFF-482A-A819-820828CE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投放诊断指标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DE5FD7-747F-478F-B7E3-154994EA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综合分析账户、广告、商品与转化数据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D636BC-92C8-41C8-A4CA-C05D9BD9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102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BF0CCE-6A77-4068-871C-A74BC73A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24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&lt;3 分钟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F6A84B-D882-429D-9848-C84F8191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010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完成初步问题诊断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C982A6-6261-43BF-9938-00A2ED8E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28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从跨页面排查收敛为一次对话式诊断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4BD730-890E-46C8-9A08-88949F13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02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4EA438-6E53-465C-98B5-8D8F67AF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24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60%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08F851-4FE6-4B8C-B09C-18D0E528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10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高频问题自助解决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5262AD-3E0B-4035-9055-83E695F1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28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减少对平台运营和广告专家的重复咨询</a:t>
            </a:r>
          </a:p>
        </p:txBody>
      </p:sp>
    </p:spTree>
    <p:extLst>
      <p:ext uri="{BB962C8B-B14F-4D97-AF65-F5344CB8AC3E}">
        <p14:creationId xmlns:p14="http://schemas.microsoft.com/office/powerpoint/2010/main" val="20056698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00083F-F194-4C50-B58F-99741981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9F7B9-2C05-4A02-9DBD-BB7E59ED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案例三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10628-3430-4207-9BFF-BE48E085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保诚保险团队智能工作台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3103B-91DE-48A1-B8B2-0FE811B3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06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0C17B-3662-4B6F-9646-1B2CBABE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将团队社区、保险知识问答与客户计划书统一到一个小程序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233A9-0086-44C7-9C1D-FC28E16C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3333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E5959-D11E-4A8D-9E1D-5948DEA0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团队经验难沉淀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29ABE-6272-4A27-B76C-F572AE2F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市场信息与销售资料散落在微信群和个人设备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9784B-D9CE-4724-9955-A5BA2902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3333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9525">
            <a:solidFill>
              <a:srgbClr val="AF503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8CAB1-8070-4454-A9AE-7E989806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812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38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38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保险知识查询效率低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3E171C-1283-45F8-861F-70F33920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669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条款、核保规则与销售资料分散，复杂问题依赖资深顾问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9111D9-C16D-4A97-9CB1-8E28C072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3333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26692-23D5-4EFE-BA07-92BC6634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812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38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计划书复杂，反馈不可见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49CE2-F98C-4AA9-AAAE-7295044C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传统制作流程耗时，发送后无法掌握客户查看情况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446996-0DAF-4635-8807-8BCBC6C6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3333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7BFEA-E844-48BE-8C66-0F843161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团队社区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F48153-A01D-4D4B-88A5-5525469E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5718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05F639-5D31-40D7-9CF3-B8483925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动态、资料与业务经验集中沉淀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成员审批、团队切换与共同管理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60D348-C0CE-4FD9-AB7C-F1EA3151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38450"/>
            <a:ext cx="3333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9525">
            <a:solidFill>
              <a:srgbClr val="AF503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94076E-AAA2-48E9-8D05-F1FBC32B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146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保险知识助手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DD20D0-77FA-498E-A65B-0D333312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5718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789426-C041-4C58-971D-D4DEA896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481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基于团队知识库回答产品与核保问题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支持 @文件 和引用溯源，可返回原文核对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7A67B3-2ED7-4D4B-8FA6-EF4A523C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38450"/>
            <a:ext cx="3333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3652C7-B83A-4693-BE4C-419AB528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146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智能计划书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A012D6-3744-4D5B-830A-EBCD25D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718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C4DE01-82F0-4910-B3B0-68C5427C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481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基于客户参数自动生成标准计划书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微信分享并记录查看时间与查看时长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5C3A9A-53E4-47CB-BAF3-F2B37B88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D5009A-BE90-4C14-B1A4-F2D3C7FC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3 大模块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2BD2EF-BC6A-4816-9673-AD58E13E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626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覆盖顾问核心工作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1C9DE2-EE99-433D-B880-C6AA7CB0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38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团队协作、知识服务与客户计划书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32CB2A-310D-47A5-A984-69CE0371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62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0A65A2-5D31-461E-931B-22D08D3D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768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4 类文件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EF683C-65EF-422F-8AA3-87EF02F6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626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企业知识统一沉淀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6A49EF-BF19-4E7E-9617-B1E6F132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038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支持 PDF、Word、Excel 与 PPT 资料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8A1DCF-69CE-4344-B97D-7B9AB11E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62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3692A0-3F9A-4D82-AA96-105A46D2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768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2 项反馈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6C50B4-F800-4207-A2E7-169159E8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626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客户浏览进度可追踪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1723BD-7E89-474F-9546-A52792BF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38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记录查看时间与查看时长</a:t>
            </a:r>
          </a:p>
        </p:txBody>
      </p:sp>
    </p:spTree>
    <p:extLst>
      <p:ext uri="{BB962C8B-B14F-4D97-AF65-F5344CB8AC3E}">
        <p14:creationId xmlns:p14="http://schemas.microsoft.com/office/powerpoint/2010/main" val="5970660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C9BECE-235D-42D1-8477-FC04D28F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F5A5B-DDF5-47D3-BCD3-8F0B9DA5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为什么选择我们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D70C5-E8DF-4033-B862-60D890BC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能够把 AI 项目真正交付到业务中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ED723-9ABC-4655-8834-98401B52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07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7C5BC-C3B8-49D5-A4A8-FF519079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BB103-65C1-449E-A3B2-59EBF149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业务理解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890EC-65C3-4729-BDDB-786B1C05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从企业经营目标和岗位流程出发识别真实问题。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5769E-1752-4487-95C2-746EC630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A0BBC-25D3-4EF6-AC01-21BC4CEF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端到端交付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E7DCBB-0009-452A-94B8-C8E1A477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覆盖培训、方案、原型、开发、系统集成和上线。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38037-9A2B-4895-A680-AAD47822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D9B16-FC9A-4D9A-AA16-9EFE8EBE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平台化建设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B5785-2DB8-461C-91D6-E93E3587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既能交付单个应用，也能统一管理多个 Agent。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233184-CD06-4A67-A60E-3DBB9DC2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A25E1B-182F-4A1B-B179-59AD6F46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持续运营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9323F-C1F2-4ADB-AEA5-70CEF5B8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用户导入、效果评测、问题复盘和版本优化持续进行。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D83422-DD02-46A5-83E1-316AB70F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9E85C-1587-4797-AB1F-0CBC073E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核心团队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884786-2369-4730-93CC-51EFD8DD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5FCE5F-1619-4DCC-9F78-25403775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602E55-7F5E-4F59-83F7-6D7C091B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21538C-5336-4C98-B208-C54F43DE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48112C-0B5E-4656-981E-C75A4EFD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陈启明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8A1ADF-C6A1-4A63-9881-8715653D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815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创始人 / 首席 AI 解决方案专家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EB1B7B-5CDE-4236-B7C0-2DCE63D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负责企业 AI 战略咨询、场景设计与项目总体方案。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759D82-675F-4E9D-AF8B-5FF3201B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895A0B-6786-41A2-9680-F80A97EC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20AC01-5784-4A60-86F8-9DF3824D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05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BFDB9F-947E-4712-B336-9FF097D8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7F2DFC-A785-43A4-B1D2-0EBBD695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林若川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E256E8-8B7D-4D87-9BD8-5670AED5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5815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联合创始人 / AI 平台与工程负责人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5B6D21-F3B5-4498-BC06-4F354618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1244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负责 Agent 平台、知识系统、数据连接和生产交付。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D17661-20A2-4E6D-979B-28AE11B1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D2D81E-E1FB-4877-BE1E-877E2F34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31DB28-4BF1-40D0-A34E-81294EEB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05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E87FF3-0D42-4262-89A2-08F7DA87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23A3F9-521F-418E-BB11-EB680FF3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周婧妍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E2D3FD-47F0-4192-99DC-27D7100B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815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客户成功与 AI 赋能负责人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7ED1A8-01F3-4215-84D3-F4FF782D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244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负责管理层培训、场景工作坊、上线导入和持续运营。</a:t>
            </a:r>
          </a:p>
        </p:txBody>
      </p:sp>
    </p:spTree>
    <p:extLst>
      <p:ext uri="{BB962C8B-B14F-4D97-AF65-F5344CB8AC3E}">
        <p14:creationId xmlns:p14="http://schemas.microsoft.com/office/powerpoint/2010/main" val="20092219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537132-25E0-4029-8F4C-CF7BF887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3503F-6170-4806-BC1E-DFA7DEAD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合作方式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4153B-22DD-404E-B8DF-2558A1AE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895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两种方式启动企业 AI 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3232D-822D-4978-B3AD-103139A1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08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D0F8C-A0BC-490F-9EB4-22056C12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从认知开始，或者带着明确问题直接进入解决方案共创。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14B27-D26B-493E-9F38-506AE511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514350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A86E5-44DF-48D5-828A-96F63D0C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12F07-1FB2-4EF7-B1CA-74785022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 认知培训与场景工作坊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88B45-5324-41C3-9147-C33D1F8A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适合尚未形成统一 AI 认知、不确定从哪里开始的企业。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12709-D8E7-42A1-B6B7-20661515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管理层培训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行业案例拆解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部门业务访谈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场景共创工作坊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F22B4-1B8D-4371-896D-EE847F5B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7672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交付：企业 AI 机会地图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70589-216D-42A2-B5B3-386D6A72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24050"/>
            <a:ext cx="552450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75652-A6C9-47A8-916F-F96D7BF6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45A41-EB7F-4F33-BAD0-8841739E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8605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AI 解决方案设计与落地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783F2-7388-4832-AC39-7D4BB2F8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6710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适合已经存在明确业务问题、希望快速验证并正式上线的企业。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CA732-1AE5-4E1D-9151-99EFE30C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0025"/>
            <a:ext cx="2552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业务诊断与方案设计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PoC 原型验证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系统开发与集成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上线运营与持续优化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4719B4-5673-4C03-BF49-D07A9B98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76725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交付：可正式运行的 AI 应用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797914-9AD5-40F2-8BCE-866CEC10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109347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9DED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DB394B-BACC-4E5A-85FD-A4D6DEE4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从一次业务场景访谈开始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1C6660-DD3A-45B0-8050-44CB8C07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57875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识别值得先做的场景，明确试点边界与价值目标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423A8E-B3FE-4F09-B948-FF4DDF59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388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预约业务场景访谈</a:t>
            </a:r>
          </a:p>
        </p:txBody>
      </p:sp>
    </p:spTree>
    <p:extLst>
      <p:ext uri="{BB962C8B-B14F-4D97-AF65-F5344CB8AC3E}">
        <p14:creationId xmlns:p14="http://schemas.microsoft.com/office/powerpoint/2010/main" val="9237511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2026-10-01T15:38:39.2660000Z</dcterms:created>
  <dcterms:modified xsi:type="dcterms:W3CDTF">2026-10-01T15:38:39.2660000Z</dcterms:modified>
</coreProperties>
</file>